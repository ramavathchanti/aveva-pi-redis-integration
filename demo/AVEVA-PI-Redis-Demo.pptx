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097280"/>
            <a:ext cx="4754880" cy="4754880"/>
          </a:xfrm>
          <a:prstGeom prst="roundRect">
            <a:avLst>
              <a:gd name="adj" fmla="val 11538"/>
            </a:avLst>
          </a:prstGeom>
          <a:solidFill>
            <a:srgbClr val="FF4438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3474720"/>
            <a:ext cx="3840480" cy="3840480"/>
          </a:xfrm>
          <a:prstGeom prst="roundRect">
            <a:avLst>
              <a:gd name="adj" fmla="val 14286"/>
            </a:avLst>
          </a:prstGeom>
          <a:solidFill>
            <a:srgbClr val="163341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0080"/>
            <a:ext cx="595274" cy="595274"/>
          </a:xfrm>
          <a:prstGeom prst="roundRect">
            <a:avLst>
              <a:gd name="adj" fmla="val 16129"/>
            </a:avLst>
          </a:prstGeom>
          <a:solidFill>
            <a:srgbClr val="FF4438"/>
          </a:solidFill>
          <a:ln/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640080"/>
            <a:ext cx="595274" cy="59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371600" y="6583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AE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AVEVA PI  ×  REDIS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Streaming industrial
</a:t>
            </a:r>
            <a:pPr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FF4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time-series into Redis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658368" y="43434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6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lightweight integration service that pulls live tag data from the AVEVA PI Web API and lands it in Redis — as time-series history, current-value snapshots, and a real-time feed.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" y="5669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E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Amit Malik</a:t>
            </a:r>
            <a:pPr indent="0" marL="0">
              <a:buNone/>
            </a:pPr>
            <a:r>
              <a:rPr lang="en-US" sz="1300" dirty="0">
                <a:solidFill>
                  <a:srgbClr val="7E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Redis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github.com/amitmknit/aveva-pi-redis-integration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2843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 ·  Proof of Concept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300" b="1" dirty="0">
                <a:solidFill>
                  <a:srgbClr val="1633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data is trapped in the historian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128016" cy="731520"/>
          </a:xfrm>
          <a:prstGeom prst="roundRect">
            <a:avLst>
              <a:gd name="adj" fmla="val 50000"/>
            </a:avLst>
          </a:prstGeom>
          <a:solidFill>
            <a:srgbClr val="FF443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2860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Historians hold the data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AVEVA PI stores millions of sensor tags, but apps can't query it at low latency.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3566160"/>
            <a:ext cx="128016" cy="731520"/>
          </a:xfrm>
          <a:prstGeom prst="roundRect">
            <a:avLst>
              <a:gd name="adj" fmla="val 50000"/>
            </a:avLst>
          </a:prstGeom>
          <a:solidFill>
            <a:srgbClr val="FF443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5204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need speed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388620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Dashboards, alerting and ML features need sub-millisecond reads, not batch exports.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4800600"/>
            <a:ext cx="128016" cy="731520"/>
          </a:xfrm>
          <a:prstGeom prst="roundRect">
            <a:avLst>
              <a:gd name="adj" fmla="val 50000"/>
            </a:avLst>
          </a:prstGeom>
          <a:solidFill>
            <a:srgbClr val="FF443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7548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bridge is missing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512064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has to move PI data into a fast, queryable store — continuously and reliably.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18120" y="1051560"/>
            <a:ext cx="3749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46720" y="1216152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4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 ms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046720" y="19202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read latency for the latest value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818120" y="2679192"/>
            <a:ext cx="3749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0" y="2843784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4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request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046720" y="35478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cycle — all tags batched via PI streamsets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18120" y="4306824"/>
            <a:ext cx="37490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46720" y="4471416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4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gaps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8046720" y="517550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backfill every sample after downtime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github.com/amitmknit/aveva-pi-redis-integration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2843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 ·  Proof of Concept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3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architecture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163341"/>
          </a:solidFill>
          <a:ln/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2219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AVEVA PI Web API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715768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8C7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 tags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8C7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(real or mock server)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80560" y="1965960"/>
            <a:ext cx="3246120" cy="1554480"/>
          </a:xfrm>
          <a:prstGeom prst="roundRect">
            <a:avLst>
              <a:gd name="adj" fmla="val 5882"/>
            </a:avLst>
          </a:prstGeom>
          <a:solidFill>
            <a:srgbClr val="091A23"/>
          </a:solidFill>
          <a:ln/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2221992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Service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271576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8C7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asyncio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B8C7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backfill + checkpoints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366760" y="1965960"/>
            <a:ext cx="3154680" cy="1554480"/>
          </a:xfrm>
          <a:prstGeom prst="roundRect">
            <a:avLst>
              <a:gd name="adj" fmla="val 5882"/>
            </a:avLst>
          </a:prstGeom>
          <a:solidFill>
            <a:srgbClr val="FF4438"/>
          </a:solidFill>
          <a:ln/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66760" y="2221992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03920" y="27157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 · Hash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877056" y="2743200"/>
            <a:ext cx="530352" cy="0"/>
          </a:xfrm>
          <a:prstGeom prst="line">
            <a:avLst/>
          </a:prstGeom>
          <a:noFill/>
          <a:ln w="28575">
            <a:solidFill>
              <a:srgbClr val="5C6B7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72400" y="2743200"/>
            <a:ext cx="521208" cy="0"/>
          </a:xfrm>
          <a:prstGeom prst="line">
            <a:avLst/>
          </a:prstGeom>
          <a:noFill/>
          <a:ln w="28575">
            <a:solidFill>
              <a:srgbClr val="5C6B73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3749040" y="15819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streamset / recorded  →  one request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635240" y="15819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TS.ADD · HSET · PUBLISH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consumers read from Redis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272491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4800600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4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pi:ts:*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230368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history (RedisTimeSeries)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83864" y="4617720"/>
            <a:ext cx="272491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66744" y="4800600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4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pi:latest:*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666744" y="5230368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Current-value snapshot (Hash)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27648" y="4617720"/>
            <a:ext cx="272491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4800600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4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pi:checkpoint:*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10528" y="5230368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Last-seen ts for gap recovery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71432" y="4617720"/>
            <a:ext cx="272491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354312" y="4800600"/>
            <a:ext cx="2359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4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pi:updates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354312" y="5230368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(Pub/Sub)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github.com/amitmknit/aveva-pi-redis-integration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2843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 ·  Proof of Concept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3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Production-shaped, not just a script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130552"/>
            <a:ext cx="512064" cy="512064"/>
          </a:xfrm>
          <a:prstGeom prst="ellipse">
            <a:avLst/>
          </a:prstGeom>
          <a:solidFill>
            <a:srgbClr val="FF4438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1305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203911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Recorded-value backfill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52160" y="2039112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archived values, not just the current sample — nothing between polls is lost.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96112" y="3282696"/>
            <a:ext cx="512064" cy="512064"/>
          </a:xfrm>
          <a:prstGeom prst="ellipse">
            <a:avLst/>
          </a:prstGeom>
          <a:solidFill>
            <a:srgbClr val="FF4438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3282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45920" y="3191256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Streamset batching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3191256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tags fetched in a single PI Web API request per cycle, not one call per tag.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178808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4434840"/>
            <a:ext cx="512064" cy="512064"/>
          </a:xfrm>
          <a:prstGeom prst="ellipse">
            <a:avLst/>
          </a:prstGeom>
          <a:solidFill>
            <a:srgbClr val="FF4438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4348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45920" y="43434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&amp; gap recovery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52160" y="4343400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Per-tag last-seen timestamp in Redis; restarts resume and backfill with zero duplicates.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5330952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5586984"/>
            <a:ext cx="512064" cy="512064"/>
          </a:xfrm>
          <a:prstGeom prst="ellipse">
            <a:avLst/>
          </a:prstGeom>
          <a:solidFill>
            <a:srgbClr val="FF4438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5586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645920" y="5495544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852160" y="5495544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 endpoint + Prometheus /metrics: samples written, poll errors, liveness.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github.com/amitmknit/aveva-pi-redis-integration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2843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 ·  Proof of Concept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running data in seconds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163341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74520"/>
            <a:ext cx="731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4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91640" y="2011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whole stack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2423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040880" y="201168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Stack + mock PI Web API + the integration service.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16334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26664"/>
            <a:ext cx="731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4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1691640" y="316382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data landing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91640" y="35753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redis-cli TS.RANGE pi:ts:Sinusoid - + COUNT 5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040880" y="3163824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History, plus HGETALL pi:latest:Sinusoid for the snapshot.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78808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163341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178808"/>
            <a:ext cx="731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4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1691640" y="431596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health &amp; metrics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91640" y="47274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localhost:9100/healthz   ·   /metrics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040880" y="4315968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{"status":"ok"} and Prometheus counters.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330952"/>
            <a:ext cx="10908792" cy="1024128"/>
          </a:xfrm>
          <a:prstGeom prst="roundRect">
            <a:avLst>
              <a:gd name="adj" fmla="val 7143"/>
            </a:avLst>
          </a:prstGeom>
          <a:solidFill>
            <a:srgbClr val="163341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5330952"/>
            <a:ext cx="7315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4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1691640" y="546811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gap recovery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91640" y="58795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 the service · wait · start again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40880" y="5468112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6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resumes from the checkpoint and backfills the outage.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github.com/amitmknit/aveva-pi-redis-integration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2843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 ·  Proof of Concept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REDIS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3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right store for live sensor data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7608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671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4438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2148840"/>
            <a:ext cx="4087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time-series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743200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RedisTimeSeries stores, retains and downsamples samples natively — MRANGE across tags by label.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2784" y="1874520"/>
            <a:ext cx="527608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92824" y="21671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4438"/>
          </a:solidFill>
          <a:ln/>
        </p:spPr>
      </p:sp>
      <p:sp>
        <p:nvSpPr>
          <p:cNvPr id="10" name="Text 8"/>
          <p:cNvSpPr/>
          <p:nvPr/>
        </p:nvSpPr>
        <p:spPr>
          <a:xfrm>
            <a:off x="7232904" y="2148840"/>
            <a:ext cx="4087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speed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620256" y="2743200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Sub-millisecond reads for dashboards, alerting and real-time ML feature lookups.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977640"/>
            <a:ext cx="527608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60120" y="4270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4438"/>
          </a:solidFill>
          <a:ln/>
        </p:spPr>
      </p:sp>
      <p:sp>
        <p:nvSpPr>
          <p:cNvPr id="14" name="Text 12"/>
          <p:cNvSpPr/>
          <p:nvPr/>
        </p:nvSpPr>
        <p:spPr>
          <a:xfrm>
            <a:off x="1600200" y="4251960"/>
            <a:ext cx="4087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fan-out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987552" y="4846320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 (and Streams) push every new sample to any number of downstream consumers.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2784" y="3977640"/>
            <a:ext cx="5276088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92824" y="42702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4438"/>
          </a:solidFill>
          <a:ln/>
        </p:spPr>
      </p:sp>
      <p:sp>
        <p:nvSpPr>
          <p:cNvPr id="18" name="Text 16"/>
          <p:cNvSpPr/>
          <p:nvPr/>
        </p:nvSpPr>
        <p:spPr>
          <a:xfrm>
            <a:off x="7232904" y="4251960"/>
            <a:ext cx="4087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20256" y="4846320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Cache, time-series, messaging and search in a single system — less to run and operate.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github.com/amitmknit/aveva-pi-redis-integration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2843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 ·  Proof of Concept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POC TO PRODUCTION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33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done, what's next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76088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828800"/>
            <a:ext cx="5276088" cy="777240"/>
          </a:xfrm>
          <a:prstGeom prst="roundRect">
            <a:avLst>
              <a:gd name="adj" fmla="val 9412"/>
            </a:avLst>
          </a:prstGeom>
          <a:solidFill>
            <a:srgbClr val="163341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40280"/>
            <a:ext cx="5276088" cy="365760"/>
          </a:xfrm>
          <a:prstGeom prst="rect">
            <a:avLst/>
          </a:prstGeom>
          <a:solidFill>
            <a:srgbClr val="1633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288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in this POC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2862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Recorded-value backfill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32688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25880" y="35204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Streamset batching (1 request/cycle)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32688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41788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+ gap recovery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32688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25880" y="483717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Snapshot, history &amp; pub/sub outputs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32688" y="5513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54955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 + Prometheus /metrics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72784" y="1828800"/>
            <a:ext cx="5276088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8E0E3"/>
            </a:solidFill>
            <a:prstDash val="solid"/>
          </a:ln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72784" y="1828800"/>
            <a:ext cx="5276088" cy="777240"/>
          </a:xfrm>
          <a:prstGeom prst="roundRect">
            <a:avLst>
              <a:gd name="adj" fmla="val 9412"/>
            </a:avLst>
          </a:prstGeom>
          <a:solidFill>
            <a:srgbClr val="FF4438"/>
          </a:solidFill>
          <a:ln/>
        </p:spPr>
      </p:sp>
      <p:sp>
        <p:nvSpPr>
          <p:cNvPr id="20" name="Shape 18"/>
          <p:cNvSpPr/>
          <p:nvPr/>
        </p:nvSpPr>
        <p:spPr>
          <a:xfrm>
            <a:off x="6272784" y="2240280"/>
            <a:ext cx="5276088" cy="365760"/>
          </a:xfrm>
          <a:prstGeom prst="rect">
            <a:avLst/>
          </a:prstGeom>
          <a:solidFill>
            <a:srgbClr val="FF4438"/>
          </a:solidFill>
          <a:ln/>
        </p:spPr>
      </p:sp>
      <p:sp>
        <p:nvSpPr>
          <p:cNvPr id="21" name="Text 19"/>
          <p:cNvSpPr/>
          <p:nvPr/>
        </p:nvSpPr>
        <p:spPr>
          <a:xfrm>
            <a:off x="6547104" y="18288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for production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65392" y="2880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958584" y="2862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Kerberos auth for real PI; TLS/ACL for Redis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565392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958584" y="35204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tags across workers for scale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565392" y="4197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958584" y="417880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 via TS.CREATERULE rollups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65392" y="48554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58584" y="483717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Alertmanager alerting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565392" y="5513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958584" y="54955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dirty="0">
                <a:solidFill>
                  <a:srgbClr val="163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+ containerized deployment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github.com/amitmknit/aveva-pi-redis-integration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2843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 ·  Proof of Concept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1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4206240"/>
            <a:ext cx="4572000" cy="3840480"/>
          </a:xfrm>
          <a:prstGeom prst="roundRect">
            <a:avLst>
              <a:gd name="adj" fmla="val 14286"/>
            </a:avLst>
          </a:prstGeom>
          <a:solidFill>
            <a:srgbClr val="FF4438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85800"/>
            <a:ext cx="595274" cy="595274"/>
          </a:xfrm>
          <a:prstGeom prst="roundRect">
            <a:avLst>
              <a:gd name="adj" fmla="val 16129"/>
            </a:avLst>
          </a:prstGeom>
          <a:solidFill>
            <a:srgbClr val="FF4438"/>
          </a:solidFill>
          <a:ln/>
          <a:effectLst>
            <a:outerShdw sx="100000" sy="100000" kx="0" ky="0" algn="bl" rotWithShape="0" blurRad="76200" dist="38100" dir="5400000">
              <a:srgbClr val="9AA7AD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685800"/>
            <a:ext cx="595274" cy="595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58368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D2D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connect PI to Redis on your data.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58368" y="4114800"/>
            <a:ext cx="6949440" cy="685800"/>
          </a:xfrm>
          <a:prstGeom prst="roundRect">
            <a:avLst>
              <a:gd name="adj" fmla="val 13333"/>
            </a:avLst>
          </a:prstGeom>
          <a:solidFill>
            <a:srgbClr val="16334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1480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E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github.com/amitmknit/aveva-pi-redis-integration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Amit Malik</a:t>
            </a:r>
            <a:pPr indent="0" marL="0">
              <a:buNone/>
            </a:pPr>
            <a:r>
              <a:rPr lang="en-US" sz="1400" dirty="0">
                <a:solidFill>
                  <a:srgbClr val="9D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amit.malik@redis.com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github.com/amitmknit/aveva-pi-redis-integration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28432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 ·  Proof of Concept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2026-07-26T06:12:29Z</dcterms:created>
  <dcterms:modified xsi:type="dcterms:W3CDTF">2026-07-26T06:12:29Z</dcterms:modified>
</cp:coreProperties>
</file>