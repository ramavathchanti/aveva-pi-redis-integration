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and thanks for the time. Today I'll show a working proof of concept that streams live operational data out of AVEVA PI and into Redis. The goal is simple: give your modern applications sub-millisecond access to sensor data without hammering the historian. Everything I'll show runs end-to-end on a laptop against a mock PI server, and all the code plus these slides are on GitHub at the link on the bottom-left.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your teams need already lives in PI — millions of tags going back years. The problem is getting it out fast enough for the applications that want it. Querying the historian directly through the Web API is fine for engineering tools, but it wasn't designed to serve thousands of concurrent app requests at low latency. So we need a bridge that moves PI data into a fast store continuously and reliably. The three cards on the right are the outcomes I'll demonstrate: sub-millisecond reads, one batched request per cycle, and zero data loss across restarts.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shape of it. A small Python service calls the PI Web API and reads recorded — that is, archived — values for all the tags in a single batched streamset request. It then writes each sample into Redis three ways: full history goes into RedisTimeSeries, the current value into a snapshot hash, and every new sample is published on a pub/sub channel. Consumers pick whatever fits: a charting tool reads the time-series, a status dashboard reads the snapshot hash, and an alerting service just subscribes to the live feed. The checkpoint key is what makes restarts safe — I'll come back to that in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Very briefly, here are the Redis features this integration actually uses. RedisTimeSeries does the heavy lifting — TS.ADD to ingest, TS.CREATERULE to auto-maintain downsampled rollups, and TS.MRANGE to query many tags at once by label. A Hash holds the latest value per tag for instant snapshot reads. Pub/Sub pushes every new sample to consumers in real time. And RedisInsight lets you visualize the series — its Profiler, which is the MONITOR command, lets you and the audience watch every command hit Redis live, which I'll show in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stress this is production-shaped, not a throwaway script. Four things matter. One: it backfills recorded values, so if a poll is slow or the app pauses, we still capture every archived sample in between. Two: it batches all tags into one request per cycle — that keeps load off PI and scales to many tags. Three: checkpoints. Each tag's last-seen timestamp is stored in Redis, so a restart resumes exactly where it left off, with no duplicates. Four: it's observable out of the box — a health endpoint and Prometheus metrics you can wire straight into your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me actually run it. First command brings up the whole stack — Redis, a mock PI Web API, and the integration service — in one shot. Then I'll query Redis directly to show history landing, and read the snapshot hash for the latest value. Third, I'll hit the health endpoint and show the Prometheus metrics ticking up. And the important one — step four — I'll kill the service, wait a few seconds to create an outage, then start it again and show in the logs that it resumes from the checkpoint and backfills the gap with no data lost and no duplicates. If you prefer a visual, RedisInsight at localhost:8001 shows the time-series as a live chart. And keep a 'redis-cli MONITOR' terminal open the whole time — it streams every command the service sends, so the audience literally watches the TS.ADD, HSET and PUBLISH calls scroll by as data flows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Redis specifically? Four reasons. It has native time-series — retention, downsampling, and cross-tag queries by label are built in, so we're not bolting a schema onto a plain key-value store. It's in-memory, so reads are sub-millisecond, which is exactly what dashboards, alerting and ML feature lookups need. It does real-time fan-out natively with pub/sub and streams. And it's multi-model — the same system does caching, time-series, messaging, and search, so you enrich sensor data with JSON context or run vector search without adding more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be honest and precise on, because it builds trust. Redis does not replace AVEVA PI. PI stays your system of record and your long-term compressed historian — that's what it's excellent at. What Redis adds is a fast serving layer in front of it. Walk down the rows: reads go from per-call REST latency to sub-millisecond; you go from a handful of clients that tax the historian to thousands served from replicas; delivery becomes push instead of poll; you get multiple data models, not just time-series; and critically, your apps hit Redis instead of PI, which protects your OT systems and your PI licensing. The bar at the bottom is the key message — say it out loud: PI is the source of truth, Redis is the speed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on the left is real and running today — that's what you just saw, including automatic downsampling rollups via TS.CREATERULE. The right column is the short path to production, and none of it is exotic: Kerberos authentication against your real PI server, TLS and ACLs to lock down Redis, sharding tags across workers if the tag count is large, active-active geo-distribution for edge or DR, wiring the metrics into your alerting stack, and packaging it for your deployment platform. This is a matter of days-to-weeks, not a rebuild.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the proof of concept. To recap: PI stays your system of record, and Redis gives your applications a sub-millisecond, real-time serving layer on top of it — with backfill and gap recovery so you never lose a sample. The code and these slides are on GitHub. The natural next step is to point this at a slice of your real PI tags in a short follow-up session and measure it on your data. Happy to set that up.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1A23"/>
        </a:solidFill>
      </p:bgPr>
    </p:bg>
    <p:spTree>
      <p:nvGrpSpPr>
        <p:cNvPr id="1" name=""/>
        <p:cNvGrpSpPr/>
        <p:nvPr/>
      </p:nvGrpSpPr>
      <p:grpSpPr>
        <a:xfrm>
          <a:off x="0" y="0"/>
          <a:ext cx="0" cy="0"/>
          <a:chOff x="0" y="0"/>
          <a:chExt cx="0" cy="0"/>
        </a:xfrm>
      </p:grpSpPr>
      <p:sp>
        <p:nvSpPr>
          <p:cNvPr id="2" name="Shape 0"/>
          <p:cNvSpPr/>
          <p:nvPr/>
        </p:nvSpPr>
        <p:spPr>
          <a:xfrm>
            <a:off x="8869680" y="-1097280"/>
            <a:ext cx="4754880" cy="4754880"/>
          </a:xfrm>
          <a:prstGeom prst="roundRect">
            <a:avLst>
              <a:gd name="adj" fmla="val 11538"/>
            </a:avLst>
          </a:prstGeom>
          <a:solidFill>
            <a:srgbClr val="FF4438">
              <a:alpha val="18000"/>
            </a:srgbClr>
          </a:solidFill>
          <a:ln/>
        </p:spPr>
      </p:sp>
      <p:sp>
        <p:nvSpPr>
          <p:cNvPr id="3" name="Shape 1"/>
          <p:cNvSpPr/>
          <p:nvPr/>
        </p:nvSpPr>
        <p:spPr>
          <a:xfrm>
            <a:off x="9966960" y="3474720"/>
            <a:ext cx="3840480" cy="3840480"/>
          </a:xfrm>
          <a:prstGeom prst="roundRect">
            <a:avLst>
              <a:gd name="adj" fmla="val 14286"/>
            </a:avLst>
          </a:prstGeom>
          <a:solidFill>
            <a:srgbClr val="163341">
              <a:alpha val="60000"/>
            </a:srgbClr>
          </a:solidFill>
          <a:ln/>
        </p:spPr>
      </p:sp>
      <p:sp>
        <p:nvSpPr>
          <p:cNvPr id="4" name="Shape 2"/>
          <p:cNvSpPr/>
          <p:nvPr/>
        </p:nvSpPr>
        <p:spPr>
          <a:xfrm>
            <a:off x="640080" y="640080"/>
            <a:ext cx="595274" cy="595274"/>
          </a:xfrm>
          <a:prstGeom prst="roundRect">
            <a:avLst>
              <a:gd name="adj" fmla="val 16129"/>
            </a:avLst>
          </a:prstGeom>
          <a:solidFill>
            <a:srgbClr val="FF4438"/>
          </a:solidFill>
          <a:ln/>
          <a:effectLst>
            <a:outerShdw sx="100000" sy="100000" kx="0" ky="0" algn="bl" rotWithShape="0" blurRad="76200" dist="38100" dir="5400000">
              <a:srgbClr val="9AA7AD">
                <a:alpha val="35000"/>
              </a:srgbClr>
            </a:outerShdw>
          </a:effectLst>
        </p:spPr>
      </p:sp>
      <p:sp>
        <p:nvSpPr>
          <p:cNvPr id="5" name="Text 3"/>
          <p:cNvSpPr/>
          <p:nvPr/>
        </p:nvSpPr>
        <p:spPr>
          <a:xfrm>
            <a:off x="640080" y="640080"/>
            <a:ext cx="595274" cy="595274"/>
          </a:xfrm>
          <a:prstGeom prst="rect">
            <a:avLst/>
          </a:prstGeom>
          <a:noFill/>
          <a:ln/>
        </p:spPr>
        <p:txBody>
          <a:bodyPr wrap="square" lIns="0" tIns="0" rIns="0" bIns="0" rtlCol="0" anchor="ctr"/>
          <a:lstStyle/>
          <a:p>
            <a:pPr algn="ctr" indent="0" marL="0">
              <a:buNone/>
            </a:pPr>
            <a:r>
              <a:rPr lang="en-US" sz="3150" b="1" dirty="0">
                <a:solidFill>
                  <a:srgbClr val="FFFFFF"/>
                </a:solidFill>
                <a:latin typeface="Cambria" pitchFamily="34" charset="0"/>
                <a:ea typeface="Cambria" pitchFamily="34" charset="-122"/>
                <a:cs typeface="Cambria" pitchFamily="34" charset="-120"/>
              </a:rPr>
              <a:t>R</a:t>
            </a:r>
            <a:endParaRPr lang="en-US" sz="3150" dirty="0"/>
          </a:p>
        </p:txBody>
      </p:sp>
      <p:sp>
        <p:nvSpPr>
          <p:cNvPr id="6" name="Text 4"/>
          <p:cNvSpPr/>
          <p:nvPr/>
        </p:nvSpPr>
        <p:spPr>
          <a:xfrm>
            <a:off x="1371600" y="658368"/>
            <a:ext cx="7315200" cy="502920"/>
          </a:xfrm>
          <a:prstGeom prst="rect">
            <a:avLst/>
          </a:prstGeom>
          <a:noFill/>
          <a:ln/>
        </p:spPr>
        <p:txBody>
          <a:bodyPr wrap="square" lIns="0" tIns="0" rIns="0" bIns="0" rtlCol="0" anchor="ctr"/>
          <a:lstStyle/>
          <a:p>
            <a:pPr indent="0" marL="0">
              <a:buNone/>
            </a:pPr>
            <a:r>
              <a:rPr lang="en-US" sz="1500" b="1" spc="200" kern="0" dirty="0">
                <a:solidFill>
                  <a:srgbClr val="AEBEC5"/>
                </a:solidFill>
                <a:latin typeface="Calibri" pitchFamily="34" charset="0"/>
                <a:ea typeface="Calibri" pitchFamily="34" charset="-122"/>
                <a:cs typeface="Calibri" pitchFamily="34" charset="-120"/>
              </a:rPr>
              <a:t>AVEVA PI  ×  REDIS</a:t>
            </a:r>
            <a:endParaRPr lang="en-US" sz="1500" dirty="0"/>
          </a:p>
        </p:txBody>
      </p:sp>
      <p:sp>
        <p:nvSpPr>
          <p:cNvPr id="7" name="Text 5"/>
          <p:cNvSpPr/>
          <p:nvPr/>
        </p:nvSpPr>
        <p:spPr>
          <a:xfrm>
            <a:off x="640080" y="2148840"/>
            <a:ext cx="10515600" cy="1920240"/>
          </a:xfrm>
          <a:prstGeom prst="rect">
            <a:avLst/>
          </a:prstGeom>
          <a:noFill/>
          <a:ln/>
        </p:spPr>
        <p:txBody>
          <a:bodyPr wrap="square" lIns="0" tIns="0" rIns="0" bIns="0" rtlCol="0" anchor="ctr"/>
          <a:lstStyle/>
          <a:p>
            <a:pPr indent="0" marL="0">
              <a:lnSpc>
                <a:spcPts val="5200"/>
              </a:lnSpc>
              <a:buNone/>
            </a:pPr>
            <a:r>
              <a:rPr lang="en-US" sz="5200" b="1" dirty="0">
                <a:solidFill>
                  <a:srgbClr val="FFFFFF"/>
                </a:solidFill>
                <a:latin typeface="Cambria" pitchFamily="34" charset="0"/>
                <a:ea typeface="Cambria" pitchFamily="34" charset="-122"/>
                <a:cs typeface="Cambria" pitchFamily="34" charset="-120"/>
              </a:rPr>
              <a:t>Streaming industrial
</a:t>
            </a:r>
            <a:pPr indent="0" marL="0">
              <a:lnSpc>
                <a:spcPts val="5200"/>
              </a:lnSpc>
              <a:buNone/>
            </a:pPr>
            <a:r>
              <a:rPr lang="en-US" sz="5200" b="1" dirty="0">
                <a:solidFill>
                  <a:srgbClr val="FF4438"/>
                </a:solidFill>
                <a:latin typeface="Cambria" pitchFamily="34" charset="0"/>
                <a:ea typeface="Cambria" pitchFamily="34" charset="-122"/>
                <a:cs typeface="Cambria" pitchFamily="34" charset="-120"/>
              </a:rPr>
              <a:t>time-series into Redis</a:t>
            </a:r>
            <a:endParaRPr lang="en-US" sz="5200" dirty="0"/>
          </a:p>
        </p:txBody>
      </p:sp>
      <p:sp>
        <p:nvSpPr>
          <p:cNvPr id="8" name="Text 6"/>
          <p:cNvSpPr/>
          <p:nvPr/>
        </p:nvSpPr>
        <p:spPr>
          <a:xfrm>
            <a:off x="658368" y="4343400"/>
            <a:ext cx="8778240" cy="914400"/>
          </a:xfrm>
          <a:prstGeom prst="rect">
            <a:avLst/>
          </a:prstGeom>
          <a:noFill/>
          <a:ln/>
        </p:spPr>
        <p:txBody>
          <a:bodyPr wrap="square" lIns="0" tIns="0" rIns="0" bIns="0" rtlCol="0" anchor="ctr"/>
          <a:lstStyle/>
          <a:p>
            <a:pPr indent="0" marL="0">
              <a:lnSpc>
                <a:spcPts val="2400"/>
              </a:lnSpc>
              <a:buNone/>
            </a:pPr>
            <a:r>
              <a:rPr lang="en-US" sz="1600" dirty="0">
                <a:solidFill>
                  <a:srgbClr val="C6D2D7"/>
                </a:solidFill>
                <a:latin typeface="Calibri" pitchFamily="34" charset="0"/>
                <a:ea typeface="Calibri" pitchFamily="34" charset="-122"/>
                <a:cs typeface="Calibri" pitchFamily="34" charset="-120"/>
              </a:rPr>
              <a:t>A lightweight integration service that pulls live tag data from the AVEVA PI Web API and lands it in Redis — as time-series history, current-value snapshots, and a real-time feed.</a:t>
            </a:r>
            <a:endParaRPr lang="en-US" sz="1600" dirty="0"/>
          </a:p>
        </p:txBody>
      </p:sp>
      <p:sp>
        <p:nvSpPr>
          <p:cNvPr id="9" name="Text 7"/>
          <p:cNvSpPr/>
          <p:nvPr/>
        </p:nvSpPr>
        <p:spPr>
          <a:xfrm>
            <a:off x="658368" y="5669280"/>
            <a:ext cx="8229600" cy="365760"/>
          </a:xfrm>
          <a:prstGeom prst="rect">
            <a:avLst/>
          </a:prstGeom>
          <a:noFill/>
          <a:ln/>
        </p:spPr>
        <p:txBody>
          <a:bodyPr wrap="square" lIns="0" tIns="0" rIns="0" bIns="0" rtlCol="0" anchor="ctr"/>
          <a:lstStyle/>
          <a:p>
            <a:pPr indent="0" marL="0">
              <a:buNone/>
            </a:pPr>
            <a:r>
              <a:rPr lang="en-US" sz="1300" dirty="0">
                <a:solidFill>
                  <a:srgbClr val="7E9099"/>
                </a:solidFill>
                <a:latin typeface="Calibri" pitchFamily="34" charset="0"/>
                <a:ea typeface="Calibri" pitchFamily="34" charset="-122"/>
                <a:cs typeface="Calibri" pitchFamily="34" charset="-120"/>
              </a:rPr>
              <a:t>Presented by  </a:t>
            </a:r>
            <a:pPr indent="0" marL="0">
              <a:buNone/>
            </a:pPr>
            <a:r>
              <a:rPr lang="en-US" sz="1300" b="1" dirty="0">
                <a:solidFill>
                  <a:srgbClr val="FFFFFF"/>
                </a:solidFill>
                <a:latin typeface="Calibri" pitchFamily="34" charset="0"/>
                <a:ea typeface="Calibri" pitchFamily="34" charset="-122"/>
                <a:cs typeface="Calibri" pitchFamily="34" charset="-120"/>
              </a:rPr>
              <a:t>Amit Malik</a:t>
            </a:r>
            <a:pPr indent="0" marL="0">
              <a:buNone/>
            </a:pPr>
            <a:r>
              <a:rPr lang="en-US" sz="1300" dirty="0">
                <a:solidFill>
                  <a:srgbClr val="7E9099"/>
                </a:solidFill>
                <a:latin typeface="Calibri" pitchFamily="34" charset="0"/>
                <a:ea typeface="Calibri" pitchFamily="34" charset="-122"/>
                <a:cs typeface="Calibri" pitchFamily="34" charset="-120"/>
              </a:rPr>
              <a:t>   ·   Redis</a:t>
            </a:r>
            <a:endParaRPr lang="en-US" sz="1300" dirty="0"/>
          </a:p>
        </p:txBody>
      </p:sp>
      <p:sp>
        <p:nvSpPr>
          <p:cNvPr id="10" name="Text 8"/>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7E9099"/>
                </a:solidFill>
                <a:latin typeface="Calibri" pitchFamily="34" charset="0"/>
                <a:ea typeface="Calibri" pitchFamily="34" charset="-122"/>
                <a:cs typeface="Calibri" pitchFamily="34" charset="-120"/>
              </a:rPr>
              <a:t>github.com/amitmknit/aveva-pi-redis-integration</a:t>
            </a:r>
            <a:endParaRPr lang="en-US" sz="900" dirty="0"/>
          </a:p>
        </p:txBody>
      </p:sp>
      <p:sp>
        <p:nvSpPr>
          <p:cNvPr id="11" name="Text 9"/>
          <p:cNvSpPr/>
          <p:nvPr/>
        </p:nvSpPr>
        <p:spPr>
          <a:xfrm>
            <a:off x="8028432" y="6473952"/>
            <a:ext cx="3657600" cy="274320"/>
          </a:xfrm>
          <a:prstGeom prst="rect">
            <a:avLst/>
          </a:prstGeom>
          <a:noFill/>
          <a:ln/>
        </p:spPr>
        <p:txBody>
          <a:bodyPr wrap="square" lIns="0" tIns="0" rIns="0" bIns="0" rtlCol="0" anchor="ctr"/>
          <a:lstStyle/>
          <a:p>
            <a:pPr algn="r" indent="0" marL="0">
              <a:buNone/>
            </a:pPr>
            <a:r>
              <a:rPr lang="en-US" sz="900" dirty="0">
                <a:solidFill>
                  <a:srgbClr val="7E9099"/>
                </a:solidFill>
                <a:latin typeface="Calibri" pitchFamily="34" charset="0"/>
                <a:ea typeface="Calibri" pitchFamily="34" charset="-122"/>
                <a:cs typeface="Calibri" pitchFamily="34" charset="-120"/>
              </a:rPr>
              <a:t>Redis  ·  Proof of Concept</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9"/>
        </a:solidFill>
      </p:bgPr>
    </p:bg>
    <p:spTree>
      <p:nvGrpSpPr>
        <p:cNvPr id="1" name=""/>
        <p:cNvGrpSpPr/>
        <p:nvPr/>
      </p:nvGrpSpPr>
      <p:grpSpPr>
        <a:xfrm>
          <a:off x="0" y="0"/>
          <a:ext cx="0" cy="0"/>
          <a:chOff x="0" y="0"/>
          <a:chExt cx="0" cy="0"/>
        </a:xfrm>
      </p:grpSpPr>
      <p:sp>
        <p:nvSpPr>
          <p:cNvPr id="2" name="Text 0"/>
          <p:cNvSpPr/>
          <p:nvPr/>
        </p:nvSpPr>
        <p:spPr>
          <a:xfrm>
            <a:off x="640080" y="548640"/>
            <a:ext cx="7315200" cy="274320"/>
          </a:xfrm>
          <a:prstGeom prst="rect">
            <a:avLst/>
          </a:prstGeom>
          <a:noFill/>
          <a:ln/>
        </p:spPr>
        <p:txBody>
          <a:bodyPr wrap="square" lIns="0" tIns="0" rIns="0" bIns="0" rtlCol="0" anchor="ctr"/>
          <a:lstStyle/>
          <a:p>
            <a:pPr indent="0" marL="0">
              <a:buNone/>
            </a:pPr>
            <a:r>
              <a:rPr lang="en-US" sz="1200" b="1" spc="300" kern="0" dirty="0">
                <a:solidFill>
                  <a:srgbClr val="FF4438"/>
                </a:solidFill>
                <a:latin typeface="Calibri" pitchFamily="34" charset="0"/>
                <a:ea typeface="Calibri" pitchFamily="34" charset="-122"/>
                <a:cs typeface="Calibri" pitchFamily="34" charset="-120"/>
              </a:rPr>
              <a:t>THE CHALLENGE</a:t>
            </a:r>
            <a:endParaRPr lang="en-US" sz="1200" dirty="0"/>
          </a:p>
        </p:txBody>
      </p:sp>
      <p:sp>
        <p:nvSpPr>
          <p:cNvPr id="3" name="Text 1"/>
          <p:cNvSpPr/>
          <p:nvPr/>
        </p:nvSpPr>
        <p:spPr>
          <a:xfrm>
            <a:off x="640080" y="868680"/>
            <a:ext cx="6583680" cy="1280160"/>
          </a:xfrm>
          <a:prstGeom prst="rect">
            <a:avLst/>
          </a:prstGeom>
          <a:noFill/>
          <a:ln/>
        </p:spPr>
        <p:txBody>
          <a:bodyPr wrap="square" lIns="0" tIns="0" rIns="0" bIns="0" rtlCol="0" anchor="ctr"/>
          <a:lstStyle/>
          <a:p>
            <a:pPr indent="0" marL="0">
              <a:lnSpc>
                <a:spcPts val="3600"/>
              </a:lnSpc>
              <a:buNone/>
            </a:pPr>
            <a:r>
              <a:rPr lang="en-US" sz="3300" b="1" dirty="0">
                <a:solidFill>
                  <a:srgbClr val="163341"/>
                </a:solidFill>
                <a:latin typeface="Cambria" pitchFamily="34" charset="0"/>
                <a:ea typeface="Cambria" pitchFamily="34" charset="-122"/>
                <a:cs typeface="Cambria" pitchFamily="34" charset="-120"/>
              </a:rPr>
              <a:t>Operational data is trapped in the historian</a:t>
            </a:r>
            <a:endParaRPr lang="en-US" sz="3300" dirty="0"/>
          </a:p>
        </p:txBody>
      </p:sp>
      <p:sp>
        <p:nvSpPr>
          <p:cNvPr id="4" name="Shape 2"/>
          <p:cNvSpPr/>
          <p:nvPr/>
        </p:nvSpPr>
        <p:spPr>
          <a:xfrm>
            <a:off x="658368" y="2331720"/>
            <a:ext cx="128016" cy="731520"/>
          </a:xfrm>
          <a:prstGeom prst="roundRect">
            <a:avLst>
              <a:gd name="adj" fmla="val 50000"/>
            </a:avLst>
          </a:prstGeom>
          <a:solidFill>
            <a:srgbClr val="FF4438"/>
          </a:solidFill>
          <a:ln/>
        </p:spPr>
      </p:sp>
      <p:sp>
        <p:nvSpPr>
          <p:cNvPr id="5" name="Text 3"/>
          <p:cNvSpPr/>
          <p:nvPr/>
        </p:nvSpPr>
        <p:spPr>
          <a:xfrm>
            <a:off x="960120" y="2286000"/>
            <a:ext cx="6035040" cy="365760"/>
          </a:xfrm>
          <a:prstGeom prst="rect">
            <a:avLst/>
          </a:prstGeom>
          <a:noFill/>
          <a:ln/>
        </p:spPr>
        <p:txBody>
          <a:bodyPr wrap="square" lIns="0" tIns="0" rIns="0" bIns="0" rtlCol="0" anchor="ctr"/>
          <a:lstStyle/>
          <a:p>
            <a:pPr indent="0" marL="0">
              <a:buNone/>
            </a:pPr>
            <a:r>
              <a:rPr lang="en-US" sz="1600" b="1" dirty="0">
                <a:solidFill>
                  <a:srgbClr val="163341"/>
                </a:solidFill>
                <a:latin typeface="Calibri" pitchFamily="34" charset="0"/>
                <a:ea typeface="Calibri" pitchFamily="34" charset="-122"/>
                <a:cs typeface="Calibri" pitchFamily="34" charset="-120"/>
              </a:rPr>
              <a:t>Historians hold the data</a:t>
            </a:r>
            <a:endParaRPr lang="en-US" sz="1600" dirty="0"/>
          </a:p>
        </p:txBody>
      </p:sp>
      <p:sp>
        <p:nvSpPr>
          <p:cNvPr id="6" name="Text 4"/>
          <p:cNvSpPr/>
          <p:nvPr/>
        </p:nvSpPr>
        <p:spPr>
          <a:xfrm>
            <a:off x="960120" y="2651760"/>
            <a:ext cx="6126480" cy="640080"/>
          </a:xfrm>
          <a:prstGeom prst="rect">
            <a:avLst/>
          </a:prstGeom>
          <a:noFill/>
          <a:ln/>
        </p:spPr>
        <p:txBody>
          <a:bodyPr wrap="square" lIns="0" tIns="0" rIns="0" bIns="0" rtlCol="0" anchor="ctr"/>
          <a:lstStyle/>
          <a:p>
            <a:pPr indent="0" marL="0">
              <a:lnSpc>
                <a:spcPts val="1700"/>
              </a:lnSpc>
              <a:buNone/>
            </a:pPr>
            <a:r>
              <a:rPr lang="en-US" sz="1300" dirty="0">
                <a:solidFill>
                  <a:srgbClr val="5C6B73"/>
                </a:solidFill>
                <a:latin typeface="Calibri" pitchFamily="34" charset="0"/>
                <a:ea typeface="Calibri" pitchFamily="34" charset="-122"/>
                <a:cs typeface="Calibri" pitchFamily="34" charset="-120"/>
              </a:rPr>
              <a:t>AVEVA PI stores millions of sensor tags, but apps can't query it at low latency.</a:t>
            </a:r>
            <a:endParaRPr lang="en-US" sz="1300" dirty="0"/>
          </a:p>
        </p:txBody>
      </p:sp>
      <p:sp>
        <p:nvSpPr>
          <p:cNvPr id="7" name="Shape 5"/>
          <p:cNvSpPr/>
          <p:nvPr/>
        </p:nvSpPr>
        <p:spPr>
          <a:xfrm>
            <a:off x="658368" y="3566160"/>
            <a:ext cx="128016" cy="731520"/>
          </a:xfrm>
          <a:prstGeom prst="roundRect">
            <a:avLst>
              <a:gd name="adj" fmla="val 50000"/>
            </a:avLst>
          </a:prstGeom>
          <a:solidFill>
            <a:srgbClr val="FF4438"/>
          </a:solidFill>
          <a:ln/>
        </p:spPr>
      </p:sp>
      <p:sp>
        <p:nvSpPr>
          <p:cNvPr id="8" name="Text 6"/>
          <p:cNvSpPr/>
          <p:nvPr/>
        </p:nvSpPr>
        <p:spPr>
          <a:xfrm>
            <a:off x="960120" y="3520440"/>
            <a:ext cx="6035040" cy="365760"/>
          </a:xfrm>
          <a:prstGeom prst="rect">
            <a:avLst/>
          </a:prstGeom>
          <a:noFill/>
          <a:ln/>
        </p:spPr>
        <p:txBody>
          <a:bodyPr wrap="square" lIns="0" tIns="0" rIns="0" bIns="0" rtlCol="0" anchor="ctr"/>
          <a:lstStyle/>
          <a:p>
            <a:pPr indent="0" marL="0">
              <a:buNone/>
            </a:pPr>
            <a:r>
              <a:rPr lang="en-US" sz="1600" b="1" dirty="0">
                <a:solidFill>
                  <a:srgbClr val="163341"/>
                </a:solidFill>
                <a:latin typeface="Calibri" pitchFamily="34" charset="0"/>
                <a:ea typeface="Calibri" pitchFamily="34" charset="-122"/>
                <a:cs typeface="Calibri" pitchFamily="34" charset="-120"/>
              </a:rPr>
              <a:t>Modern apps need speed</a:t>
            </a:r>
            <a:endParaRPr lang="en-US" sz="1600" dirty="0"/>
          </a:p>
        </p:txBody>
      </p:sp>
      <p:sp>
        <p:nvSpPr>
          <p:cNvPr id="9" name="Text 7"/>
          <p:cNvSpPr/>
          <p:nvPr/>
        </p:nvSpPr>
        <p:spPr>
          <a:xfrm>
            <a:off x="960120" y="3886200"/>
            <a:ext cx="6126480" cy="640080"/>
          </a:xfrm>
          <a:prstGeom prst="rect">
            <a:avLst/>
          </a:prstGeom>
          <a:noFill/>
          <a:ln/>
        </p:spPr>
        <p:txBody>
          <a:bodyPr wrap="square" lIns="0" tIns="0" rIns="0" bIns="0" rtlCol="0" anchor="ctr"/>
          <a:lstStyle/>
          <a:p>
            <a:pPr indent="0" marL="0">
              <a:lnSpc>
                <a:spcPts val="1700"/>
              </a:lnSpc>
              <a:buNone/>
            </a:pPr>
            <a:r>
              <a:rPr lang="en-US" sz="1300" dirty="0">
                <a:solidFill>
                  <a:srgbClr val="5C6B73"/>
                </a:solidFill>
                <a:latin typeface="Calibri" pitchFamily="34" charset="0"/>
                <a:ea typeface="Calibri" pitchFamily="34" charset="-122"/>
                <a:cs typeface="Calibri" pitchFamily="34" charset="-120"/>
              </a:rPr>
              <a:t>Dashboards, alerting and ML features need sub-millisecond reads, not batch exports.</a:t>
            </a:r>
            <a:endParaRPr lang="en-US" sz="1300" dirty="0"/>
          </a:p>
        </p:txBody>
      </p:sp>
      <p:sp>
        <p:nvSpPr>
          <p:cNvPr id="10" name="Shape 8"/>
          <p:cNvSpPr/>
          <p:nvPr/>
        </p:nvSpPr>
        <p:spPr>
          <a:xfrm>
            <a:off x="658368" y="4800600"/>
            <a:ext cx="128016" cy="731520"/>
          </a:xfrm>
          <a:prstGeom prst="roundRect">
            <a:avLst>
              <a:gd name="adj" fmla="val 50000"/>
            </a:avLst>
          </a:prstGeom>
          <a:solidFill>
            <a:srgbClr val="FF4438"/>
          </a:solidFill>
          <a:ln/>
        </p:spPr>
      </p:sp>
      <p:sp>
        <p:nvSpPr>
          <p:cNvPr id="11" name="Text 9"/>
          <p:cNvSpPr/>
          <p:nvPr/>
        </p:nvSpPr>
        <p:spPr>
          <a:xfrm>
            <a:off x="960120" y="4754880"/>
            <a:ext cx="6035040" cy="365760"/>
          </a:xfrm>
          <a:prstGeom prst="rect">
            <a:avLst/>
          </a:prstGeom>
          <a:noFill/>
          <a:ln/>
        </p:spPr>
        <p:txBody>
          <a:bodyPr wrap="square" lIns="0" tIns="0" rIns="0" bIns="0" rtlCol="0" anchor="ctr"/>
          <a:lstStyle/>
          <a:p>
            <a:pPr indent="0" marL="0">
              <a:buNone/>
            </a:pPr>
            <a:r>
              <a:rPr lang="en-US" sz="1600" b="1" dirty="0">
                <a:solidFill>
                  <a:srgbClr val="163341"/>
                </a:solidFill>
                <a:latin typeface="Calibri" pitchFamily="34" charset="0"/>
                <a:ea typeface="Calibri" pitchFamily="34" charset="-122"/>
                <a:cs typeface="Calibri" pitchFamily="34" charset="-120"/>
              </a:rPr>
              <a:t>A bridge is missing</a:t>
            </a:r>
            <a:endParaRPr lang="en-US" sz="1600" dirty="0"/>
          </a:p>
        </p:txBody>
      </p:sp>
      <p:sp>
        <p:nvSpPr>
          <p:cNvPr id="12" name="Text 10"/>
          <p:cNvSpPr/>
          <p:nvPr/>
        </p:nvSpPr>
        <p:spPr>
          <a:xfrm>
            <a:off x="960120" y="5120640"/>
            <a:ext cx="6126480" cy="640080"/>
          </a:xfrm>
          <a:prstGeom prst="rect">
            <a:avLst/>
          </a:prstGeom>
          <a:noFill/>
          <a:ln/>
        </p:spPr>
        <p:txBody>
          <a:bodyPr wrap="square" lIns="0" tIns="0" rIns="0" bIns="0" rtlCol="0" anchor="ctr"/>
          <a:lstStyle/>
          <a:p>
            <a:pPr indent="0" marL="0">
              <a:lnSpc>
                <a:spcPts val="1700"/>
              </a:lnSpc>
              <a:buNone/>
            </a:pPr>
            <a:r>
              <a:rPr lang="en-US" sz="1300" dirty="0">
                <a:solidFill>
                  <a:srgbClr val="5C6B73"/>
                </a:solidFill>
                <a:latin typeface="Calibri" pitchFamily="34" charset="0"/>
                <a:ea typeface="Calibri" pitchFamily="34" charset="-122"/>
                <a:cs typeface="Calibri" pitchFamily="34" charset="-120"/>
              </a:rPr>
              <a:t>Something has to move PI data into a fast, queryable store — continuously and reliably.</a:t>
            </a:r>
            <a:endParaRPr lang="en-US" sz="1300" dirty="0"/>
          </a:p>
        </p:txBody>
      </p:sp>
      <p:sp>
        <p:nvSpPr>
          <p:cNvPr id="13" name="Shape 11"/>
          <p:cNvSpPr/>
          <p:nvPr/>
        </p:nvSpPr>
        <p:spPr>
          <a:xfrm>
            <a:off x="7818120" y="1051560"/>
            <a:ext cx="3749040" cy="1463040"/>
          </a:xfrm>
          <a:prstGeom prst="roundRect">
            <a:avLst>
              <a:gd name="adj" fmla="val 5000"/>
            </a:avLst>
          </a:prstGeom>
          <a:solidFill>
            <a:srgbClr val="FFFFFF"/>
          </a:solidFill>
          <a:ln w="12700">
            <a:solidFill>
              <a:srgbClr val="D8E0E3"/>
            </a:solidFill>
            <a:prstDash val="solid"/>
          </a:ln>
          <a:effectLst>
            <a:outerShdw sx="100000" sy="100000" kx="0" ky="0" algn="bl" rotWithShape="0" blurRad="76200" dist="38100" dir="5400000">
              <a:srgbClr val="9AA7AD">
                <a:alpha val="35000"/>
              </a:srgbClr>
            </a:outerShdw>
          </a:effectLst>
        </p:spPr>
      </p:sp>
      <p:sp>
        <p:nvSpPr>
          <p:cNvPr id="14" name="Text 12"/>
          <p:cNvSpPr/>
          <p:nvPr/>
        </p:nvSpPr>
        <p:spPr>
          <a:xfrm>
            <a:off x="8046720" y="1216152"/>
            <a:ext cx="3291840" cy="685800"/>
          </a:xfrm>
          <a:prstGeom prst="rect">
            <a:avLst/>
          </a:prstGeom>
          <a:noFill/>
          <a:ln/>
        </p:spPr>
        <p:txBody>
          <a:bodyPr wrap="square" lIns="0" tIns="0" rIns="0" bIns="0" rtlCol="0" anchor="ctr"/>
          <a:lstStyle/>
          <a:p>
            <a:pPr indent="0" marL="0">
              <a:buNone/>
            </a:pPr>
            <a:r>
              <a:rPr lang="en-US" sz="3400" b="1" dirty="0">
                <a:solidFill>
                  <a:srgbClr val="FF4438"/>
                </a:solidFill>
                <a:latin typeface="Cambria" pitchFamily="34" charset="0"/>
                <a:ea typeface="Cambria" pitchFamily="34" charset="-122"/>
                <a:cs typeface="Cambria" pitchFamily="34" charset="-120"/>
              </a:rPr>
              <a:t>&lt; 1 ms</a:t>
            </a:r>
            <a:endParaRPr lang="en-US" sz="3400" dirty="0"/>
          </a:p>
        </p:txBody>
      </p:sp>
      <p:sp>
        <p:nvSpPr>
          <p:cNvPr id="15" name="Text 13"/>
          <p:cNvSpPr/>
          <p:nvPr/>
        </p:nvSpPr>
        <p:spPr>
          <a:xfrm>
            <a:off x="8046720" y="1920240"/>
            <a:ext cx="3291840" cy="502920"/>
          </a:xfrm>
          <a:prstGeom prst="rect">
            <a:avLst/>
          </a:prstGeom>
          <a:noFill/>
          <a:ln/>
        </p:spPr>
        <p:txBody>
          <a:bodyPr wrap="square" lIns="0" tIns="0" rIns="0" bIns="0" rtlCol="0" anchor="ctr"/>
          <a:lstStyle/>
          <a:p>
            <a:pPr indent="0" marL="0">
              <a:lnSpc>
                <a:spcPts val="1500"/>
              </a:lnSpc>
              <a:buNone/>
            </a:pPr>
            <a:r>
              <a:rPr lang="en-US" sz="1250" dirty="0">
                <a:solidFill>
                  <a:srgbClr val="163341"/>
                </a:solidFill>
                <a:latin typeface="Calibri" pitchFamily="34" charset="0"/>
                <a:ea typeface="Calibri" pitchFamily="34" charset="-122"/>
                <a:cs typeface="Calibri" pitchFamily="34" charset="-120"/>
              </a:rPr>
              <a:t>Redis read latency for the latest value</a:t>
            </a:r>
            <a:endParaRPr lang="en-US" sz="1250" dirty="0"/>
          </a:p>
        </p:txBody>
      </p:sp>
      <p:sp>
        <p:nvSpPr>
          <p:cNvPr id="16" name="Shape 14"/>
          <p:cNvSpPr/>
          <p:nvPr/>
        </p:nvSpPr>
        <p:spPr>
          <a:xfrm>
            <a:off x="7818120" y="2679192"/>
            <a:ext cx="3749040" cy="1463040"/>
          </a:xfrm>
          <a:prstGeom prst="roundRect">
            <a:avLst>
              <a:gd name="adj" fmla="val 5000"/>
            </a:avLst>
          </a:prstGeom>
          <a:solidFill>
            <a:srgbClr val="FFFFFF"/>
          </a:solidFill>
          <a:ln w="12700">
            <a:solidFill>
              <a:srgbClr val="D8E0E3"/>
            </a:solidFill>
            <a:prstDash val="solid"/>
          </a:ln>
          <a:effectLst>
            <a:outerShdw sx="100000" sy="100000" kx="0" ky="0" algn="bl" rotWithShape="0" blurRad="76200" dist="38100" dir="5400000">
              <a:srgbClr val="9AA7AD">
                <a:alpha val="35000"/>
              </a:srgbClr>
            </a:outerShdw>
          </a:effectLst>
        </p:spPr>
      </p:sp>
      <p:sp>
        <p:nvSpPr>
          <p:cNvPr id="17" name="Text 15"/>
          <p:cNvSpPr/>
          <p:nvPr/>
        </p:nvSpPr>
        <p:spPr>
          <a:xfrm>
            <a:off x="8046720" y="2843784"/>
            <a:ext cx="3291840" cy="685800"/>
          </a:xfrm>
          <a:prstGeom prst="rect">
            <a:avLst/>
          </a:prstGeom>
          <a:noFill/>
          <a:ln/>
        </p:spPr>
        <p:txBody>
          <a:bodyPr wrap="square" lIns="0" tIns="0" rIns="0" bIns="0" rtlCol="0" anchor="ctr"/>
          <a:lstStyle/>
          <a:p>
            <a:pPr indent="0" marL="0">
              <a:buNone/>
            </a:pPr>
            <a:r>
              <a:rPr lang="en-US" sz="3400" b="1" dirty="0">
                <a:solidFill>
                  <a:srgbClr val="FF4438"/>
                </a:solidFill>
                <a:latin typeface="Cambria" pitchFamily="34" charset="0"/>
                <a:ea typeface="Cambria" pitchFamily="34" charset="-122"/>
                <a:cs typeface="Cambria" pitchFamily="34" charset="-120"/>
              </a:rPr>
              <a:t>1 request</a:t>
            </a:r>
            <a:endParaRPr lang="en-US" sz="3400" dirty="0"/>
          </a:p>
        </p:txBody>
      </p:sp>
      <p:sp>
        <p:nvSpPr>
          <p:cNvPr id="18" name="Text 16"/>
          <p:cNvSpPr/>
          <p:nvPr/>
        </p:nvSpPr>
        <p:spPr>
          <a:xfrm>
            <a:off x="8046720" y="3547872"/>
            <a:ext cx="3291840" cy="502920"/>
          </a:xfrm>
          <a:prstGeom prst="rect">
            <a:avLst/>
          </a:prstGeom>
          <a:noFill/>
          <a:ln/>
        </p:spPr>
        <p:txBody>
          <a:bodyPr wrap="square" lIns="0" tIns="0" rIns="0" bIns="0" rtlCol="0" anchor="ctr"/>
          <a:lstStyle/>
          <a:p>
            <a:pPr indent="0" marL="0">
              <a:lnSpc>
                <a:spcPts val="1500"/>
              </a:lnSpc>
              <a:buNone/>
            </a:pPr>
            <a:r>
              <a:rPr lang="en-US" sz="1250" dirty="0">
                <a:solidFill>
                  <a:srgbClr val="163341"/>
                </a:solidFill>
                <a:latin typeface="Calibri" pitchFamily="34" charset="0"/>
                <a:ea typeface="Calibri" pitchFamily="34" charset="-122"/>
                <a:cs typeface="Calibri" pitchFamily="34" charset="-120"/>
              </a:rPr>
              <a:t>per cycle — all tags batched via PI streamsets</a:t>
            </a:r>
            <a:endParaRPr lang="en-US" sz="1250" dirty="0"/>
          </a:p>
        </p:txBody>
      </p:sp>
      <p:sp>
        <p:nvSpPr>
          <p:cNvPr id="19" name="Shape 17"/>
          <p:cNvSpPr/>
          <p:nvPr/>
        </p:nvSpPr>
        <p:spPr>
          <a:xfrm>
            <a:off x="7818120" y="4306824"/>
            <a:ext cx="3749040" cy="1463040"/>
          </a:xfrm>
          <a:prstGeom prst="roundRect">
            <a:avLst>
              <a:gd name="adj" fmla="val 5000"/>
            </a:avLst>
          </a:prstGeom>
          <a:solidFill>
            <a:srgbClr val="FFFFFF"/>
          </a:solidFill>
          <a:ln w="12700">
            <a:solidFill>
              <a:srgbClr val="D8E0E3"/>
            </a:solidFill>
            <a:prstDash val="solid"/>
          </a:ln>
          <a:effectLst>
            <a:outerShdw sx="100000" sy="100000" kx="0" ky="0" algn="bl" rotWithShape="0" blurRad="76200" dist="38100" dir="5400000">
              <a:srgbClr val="9AA7AD">
                <a:alpha val="35000"/>
              </a:srgbClr>
            </a:outerShdw>
          </a:effectLst>
        </p:spPr>
      </p:sp>
      <p:sp>
        <p:nvSpPr>
          <p:cNvPr id="20" name="Text 18"/>
          <p:cNvSpPr/>
          <p:nvPr/>
        </p:nvSpPr>
        <p:spPr>
          <a:xfrm>
            <a:off x="8046720" y="4471416"/>
            <a:ext cx="3291840" cy="685800"/>
          </a:xfrm>
          <a:prstGeom prst="rect">
            <a:avLst/>
          </a:prstGeom>
          <a:noFill/>
          <a:ln/>
        </p:spPr>
        <p:txBody>
          <a:bodyPr wrap="square" lIns="0" tIns="0" rIns="0" bIns="0" rtlCol="0" anchor="ctr"/>
          <a:lstStyle/>
          <a:p>
            <a:pPr indent="0" marL="0">
              <a:buNone/>
            </a:pPr>
            <a:r>
              <a:rPr lang="en-US" sz="3400" b="1" dirty="0">
                <a:solidFill>
                  <a:srgbClr val="FF4438"/>
                </a:solidFill>
                <a:latin typeface="Cambria" pitchFamily="34" charset="0"/>
                <a:ea typeface="Cambria" pitchFamily="34" charset="-122"/>
                <a:cs typeface="Cambria" pitchFamily="34" charset="-120"/>
              </a:rPr>
              <a:t>0 gaps</a:t>
            </a:r>
            <a:endParaRPr lang="en-US" sz="3400" dirty="0"/>
          </a:p>
        </p:txBody>
      </p:sp>
      <p:sp>
        <p:nvSpPr>
          <p:cNvPr id="21" name="Text 19"/>
          <p:cNvSpPr/>
          <p:nvPr/>
        </p:nvSpPr>
        <p:spPr>
          <a:xfrm>
            <a:off x="8046720" y="5175504"/>
            <a:ext cx="3291840" cy="502920"/>
          </a:xfrm>
          <a:prstGeom prst="rect">
            <a:avLst/>
          </a:prstGeom>
          <a:noFill/>
          <a:ln/>
        </p:spPr>
        <p:txBody>
          <a:bodyPr wrap="square" lIns="0" tIns="0" rIns="0" bIns="0" rtlCol="0" anchor="ctr"/>
          <a:lstStyle/>
          <a:p>
            <a:pPr indent="0" marL="0">
              <a:lnSpc>
                <a:spcPts val="1500"/>
              </a:lnSpc>
              <a:buNone/>
            </a:pPr>
            <a:r>
              <a:rPr lang="en-US" sz="1250" dirty="0">
                <a:solidFill>
                  <a:srgbClr val="163341"/>
                </a:solidFill>
                <a:latin typeface="Calibri" pitchFamily="34" charset="0"/>
                <a:ea typeface="Calibri" pitchFamily="34" charset="-122"/>
                <a:cs typeface="Calibri" pitchFamily="34" charset="-120"/>
              </a:rPr>
              <a:t>checkpoints backfill every sample after downtime</a:t>
            </a:r>
            <a:endParaRPr lang="en-US" sz="1250" dirty="0"/>
          </a:p>
        </p:txBody>
      </p:sp>
      <p:sp>
        <p:nvSpPr>
          <p:cNvPr id="22" name="Text 20"/>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5C6B73"/>
                </a:solidFill>
                <a:latin typeface="Calibri" pitchFamily="34" charset="0"/>
                <a:ea typeface="Calibri" pitchFamily="34" charset="-122"/>
                <a:cs typeface="Calibri" pitchFamily="34" charset="-120"/>
              </a:rPr>
              <a:t>github.com/amitmknit/aveva-pi-redis-integration</a:t>
            </a:r>
            <a:endParaRPr lang="en-US" sz="900" dirty="0"/>
          </a:p>
        </p:txBody>
      </p:sp>
      <p:sp>
        <p:nvSpPr>
          <p:cNvPr id="23" name="Text 21"/>
          <p:cNvSpPr/>
          <p:nvPr/>
        </p:nvSpPr>
        <p:spPr>
          <a:xfrm>
            <a:off x="8028432" y="6473952"/>
            <a:ext cx="3657600" cy="274320"/>
          </a:xfrm>
          <a:prstGeom prst="rect">
            <a:avLst/>
          </a:prstGeom>
          <a:noFill/>
          <a:ln/>
        </p:spPr>
        <p:txBody>
          <a:bodyPr wrap="square" lIns="0" tIns="0" rIns="0" bIns="0" rtlCol="0" anchor="ctr"/>
          <a:lstStyle/>
          <a:p>
            <a:pPr algn="r" indent="0" marL="0">
              <a:buNone/>
            </a:pPr>
            <a:r>
              <a:rPr lang="en-US" sz="900" dirty="0">
                <a:solidFill>
                  <a:srgbClr val="5C6B73"/>
                </a:solidFill>
                <a:latin typeface="Calibri" pitchFamily="34" charset="0"/>
                <a:ea typeface="Calibri" pitchFamily="34" charset="-122"/>
                <a:cs typeface="Calibri" pitchFamily="34" charset="-120"/>
              </a:rPr>
              <a:t>Redis  ·  Proof of Concept</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9"/>
        </a:solidFill>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indent="0" marL="0">
              <a:buNone/>
            </a:pPr>
            <a:r>
              <a:rPr lang="en-US" sz="1200" b="1" spc="300" kern="0" dirty="0">
                <a:solidFill>
                  <a:srgbClr val="FF4438"/>
                </a:solidFill>
                <a:latin typeface="Calibri" pitchFamily="34" charset="0"/>
                <a:ea typeface="Calibri" pitchFamily="34" charset="-122"/>
                <a:cs typeface="Calibri" pitchFamily="34" charset="-120"/>
              </a:rPr>
              <a:t>HOW IT WORKS</a:t>
            </a:r>
            <a:endParaRPr lang="en-US" sz="1200" dirty="0"/>
          </a:p>
        </p:txBody>
      </p:sp>
      <p:sp>
        <p:nvSpPr>
          <p:cNvPr id="3" name="Text 1"/>
          <p:cNvSpPr/>
          <p:nvPr/>
        </p:nvSpPr>
        <p:spPr>
          <a:xfrm>
            <a:off x="640080" y="822960"/>
            <a:ext cx="10058400" cy="640080"/>
          </a:xfrm>
          <a:prstGeom prst="rect">
            <a:avLst/>
          </a:prstGeom>
          <a:noFill/>
          <a:ln/>
        </p:spPr>
        <p:txBody>
          <a:bodyPr wrap="square" lIns="0" tIns="0" rIns="0" bIns="0" rtlCol="0" anchor="ctr"/>
          <a:lstStyle/>
          <a:p>
            <a:pPr indent="0" marL="0">
              <a:buNone/>
            </a:pPr>
            <a:r>
              <a:rPr lang="en-US" sz="3200" b="1" dirty="0">
                <a:solidFill>
                  <a:srgbClr val="163341"/>
                </a:solidFill>
                <a:latin typeface="Cambria" pitchFamily="34" charset="0"/>
                <a:ea typeface="Cambria" pitchFamily="34" charset="-122"/>
                <a:cs typeface="Cambria" pitchFamily="34" charset="-120"/>
              </a:rPr>
              <a:t>End-to-end architecture</a:t>
            </a:r>
            <a:endParaRPr lang="en-US" sz="3200" dirty="0"/>
          </a:p>
        </p:txBody>
      </p:sp>
      <p:sp>
        <p:nvSpPr>
          <p:cNvPr id="4" name="Shape 2"/>
          <p:cNvSpPr/>
          <p:nvPr/>
        </p:nvSpPr>
        <p:spPr>
          <a:xfrm>
            <a:off x="640080" y="1965960"/>
            <a:ext cx="3200400" cy="1554480"/>
          </a:xfrm>
          <a:prstGeom prst="roundRect">
            <a:avLst>
              <a:gd name="adj" fmla="val 5882"/>
            </a:avLst>
          </a:prstGeom>
          <a:solidFill>
            <a:srgbClr val="163341"/>
          </a:solidFill>
          <a:ln/>
          <a:effectLst>
            <a:outerShdw sx="100000" sy="100000" kx="0" ky="0" algn="bl" rotWithShape="0" blurRad="76200" dist="38100" dir="5400000">
              <a:srgbClr val="9AA7AD">
                <a:alpha val="35000"/>
              </a:srgbClr>
            </a:outerShdw>
          </a:effectLst>
        </p:spPr>
      </p:sp>
      <p:sp>
        <p:nvSpPr>
          <p:cNvPr id="5" name="Text 3"/>
          <p:cNvSpPr/>
          <p:nvPr/>
        </p:nvSpPr>
        <p:spPr>
          <a:xfrm>
            <a:off x="640080" y="2221992"/>
            <a:ext cx="32004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AVEVA PI Web API</a:t>
            </a:r>
            <a:endParaRPr lang="en-US" sz="1600" dirty="0"/>
          </a:p>
        </p:txBody>
      </p:sp>
      <p:sp>
        <p:nvSpPr>
          <p:cNvPr id="6" name="Text 4"/>
          <p:cNvSpPr/>
          <p:nvPr/>
        </p:nvSpPr>
        <p:spPr>
          <a:xfrm>
            <a:off x="777240" y="2715768"/>
            <a:ext cx="2926080" cy="640080"/>
          </a:xfrm>
          <a:prstGeom prst="rect">
            <a:avLst/>
          </a:prstGeom>
          <a:noFill/>
          <a:ln/>
        </p:spPr>
        <p:txBody>
          <a:bodyPr wrap="square" lIns="0" tIns="0" rIns="0" bIns="0" rtlCol="0" anchor="ctr"/>
          <a:lstStyle/>
          <a:p>
            <a:pPr algn="ctr" indent="0" marL="0">
              <a:lnSpc>
                <a:spcPts val="1400"/>
              </a:lnSpc>
              <a:buNone/>
            </a:pPr>
            <a:r>
              <a:rPr lang="en-US" sz="1150" dirty="0">
                <a:solidFill>
                  <a:srgbClr val="B8C7CD"/>
                </a:solidFill>
                <a:latin typeface="Calibri" pitchFamily="34" charset="0"/>
                <a:ea typeface="Calibri" pitchFamily="34" charset="-122"/>
                <a:cs typeface="Calibri" pitchFamily="34" charset="-120"/>
              </a:rPr>
              <a:t>Historian tags</a:t>
            </a:r>
            <a:endParaRPr lang="en-US" sz="1150" dirty="0"/>
          </a:p>
          <a:p>
            <a:pPr algn="ctr" indent="0" marL="0">
              <a:lnSpc>
                <a:spcPts val="1400"/>
              </a:lnSpc>
              <a:buNone/>
            </a:pPr>
            <a:r>
              <a:rPr lang="en-US" sz="1150" dirty="0">
                <a:solidFill>
                  <a:srgbClr val="B8C7CD"/>
                </a:solidFill>
                <a:latin typeface="Calibri" pitchFamily="34" charset="0"/>
                <a:ea typeface="Calibri" pitchFamily="34" charset="-122"/>
                <a:cs typeface="Calibri" pitchFamily="34" charset="-120"/>
              </a:rPr>
              <a:t>(real or mock server)</a:t>
            </a:r>
            <a:endParaRPr lang="en-US" sz="1150" dirty="0"/>
          </a:p>
        </p:txBody>
      </p:sp>
      <p:sp>
        <p:nvSpPr>
          <p:cNvPr id="7" name="Shape 5"/>
          <p:cNvSpPr/>
          <p:nvPr/>
        </p:nvSpPr>
        <p:spPr>
          <a:xfrm>
            <a:off x="4480560" y="1965960"/>
            <a:ext cx="3246120" cy="1554480"/>
          </a:xfrm>
          <a:prstGeom prst="roundRect">
            <a:avLst>
              <a:gd name="adj" fmla="val 5882"/>
            </a:avLst>
          </a:prstGeom>
          <a:solidFill>
            <a:srgbClr val="091A23"/>
          </a:solidFill>
          <a:ln/>
          <a:effectLst>
            <a:outerShdw sx="100000" sy="100000" kx="0" ky="0" algn="bl" rotWithShape="0" blurRad="76200" dist="38100" dir="5400000">
              <a:srgbClr val="9AA7AD">
                <a:alpha val="35000"/>
              </a:srgbClr>
            </a:outerShdw>
          </a:effectLst>
        </p:spPr>
      </p:sp>
      <p:sp>
        <p:nvSpPr>
          <p:cNvPr id="8" name="Text 6"/>
          <p:cNvSpPr/>
          <p:nvPr/>
        </p:nvSpPr>
        <p:spPr>
          <a:xfrm>
            <a:off x="4480560" y="2221992"/>
            <a:ext cx="324612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Integration Service</a:t>
            </a:r>
            <a:endParaRPr lang="en-US" sz="1600" dirty="0"/>
          </a:p>
        </p:txBody>
      </p:sp>
      <p:sp>
        <p:nvSpPr>
          <p:cNvPr id="9" name="Text 7"/>
          <p:cNvSpPr/>
          <p:nvPr/>
        </p:nvSpPr>
        <p:spPr>
          <a:xfrm>
            <a:off x="4617720" y="2715768"/>
            <a:ext cx="2971800" cy="640080"/>
          </a:xfrm>
          <a:prstGeom prst="rect">
            <a:avLst/>
          </a:prstGeom>
          <a:noFill/>
          <a:ln/>
        </p:spPr>
        <p:txBody>
          <a:bodyPr wrap="square" lIns="0" tIns="0" rIns="0" bIns="0" rtlCol="0" anchor="ctr"/>
          <a:lstStyle/>
          <a:p>
            <a:pPr algn="ctr" indent="0" marL="0">
              <a:lnSpc>
                <a:spcPts val="1400"/>
              </a:lnSpc>
              <a:buNone/>
            </a:pPr>
            <a:r>
              <a:rPr lang="en-US" sz="1150" dirty="0">
                <a:solidFill>
                  <a:srgbClr val="B8C7CD"/>
                </a:solidFill>
                <a:latin typeface="Calibri" pitchFamily="34" charset="0"/>
                <a:ea typeface="Calibri" pitchFamily="34" charset="-122"/>
                <a:cs typeface="Calibri" pitchFamily="34" charset="-120"/>
              </a:rPr>
              <a:t>Python · asyncio</a:t>
            </a:r>
            <a:endParaRPr lang="en-US" sz="1150" dirty="0"/>
          </a:p>
          <a:p>
            <a:pPr algn="ctr" indent="0" marL="0">
              <a:lnSpc>
                <a:spcPts val="1400"/>
              </a:lnSpc>
              <a:buNone/>
            </a:pPr>
            <a:r>
              <a:rPr lang="en-US" sz="1150" dirty="0">
                <a:solidFill>
                  <a:srgbClr val="B8C7CD"/>
                </a:solidFill>
                <a:latin typeface="Calibri" pitchFamily="34" charset="0"/>
                <a:ea typeface="Calibri" pitchFamily="34" charset="-122"/>
                <a:cs typeface="Calibri" pitchFamily="34" charset="-120"/>
              </a:rPr>
              <a:t>batch backfill + checkpoints</a:t>
            </a:r>
            <a:endParaRPr lang="en-US" sz="1150" dirty="0"/>
          </a:p>
        </p:txBody>
      </p:sp>
      <p:sp>
        <p:nvSpPr>
          <p:cNvPr id="10" name="Shape 8"/>
          <p:cNvSpPr/>
          <p:nvPr/>
        </p:nvSpPr>
        <p:spPr>
          <a:xfrm>
            <a:off x="8366760" y="1965960"/>
            <a:ext cx="3154680" cy="1554480"/>
          </a:xfrm>
          <a:prstGeom prst="roundRect">
            <a:avLst>
              <a:gd name="adj" fmla="val 5882"/>
            </a:avLst>
          </a:prstGeom>
          <a:solidFill>
            <a:srgbClr val="FF4438"/>
          </a:solidFill>
          <a:ln/>
          <a:effectLst>
            <a:outerShdw sx="100000" sy="100000" kx="0" ky="0" algn="bl" rotWithShape="0" blurRad="76200" dist="38100" dir="5400000">
              <a:srgbClr val="9AA7AD">
                <a:alpha val="35000"/>
              </a:srgbClr>
            </a:outerShdw>
          </a:effectLst>
        </p:spPr>
      </p:sp>
      <p:sp>
        <p:nvSpPr>
          <p:cNvPr id="11" name="Text 9"/>
          <p:cNvSpPr/>
          <p:nvPr/>
        </p:nvSpPr>
        <p:spPr>
          <a:xfrm>
            <a:off x="8366760" y="2221992"/>
            <a:ext cx="315468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Redis</a:t>
            </a:r>
            <a:endParaRPr lang="en-US" sz="1600" dirty="0"/>
          </a:p>
        </p:txBody>
      </p:sp>
      <p:sp>
        <p:nvSpPr>
          <p:cNvPr id="12" name="Text 10"/>
          <p:cNvSpPr/>
          <p:nvPr/>
        </p:nvSpPr>
        <p:spPr>
          <a:xfrm>
            <a:off x="8503920" y="2715768"/>
            <a:ext cx="2880360" cy="640080"/>
          </a:xfrm>
          <a:prstGeom prst="rect">
            <a:avLst/>
          </a:prstGeom>
          <a:noFill/>
          <a:ln/>
        </p:spPr>
        <p:txBody>
          <a:bodyPr wrap="square" lIns="0" tIns="0" rIns="0" bIns="0" rtlCol="0" anchor="ctr"/>
          <a:lstStyle/>
          <a:p>
            <a:pPr algn="ctr" indent="0" marL="0">
              <a:lnSpc>
                <a:spcPts val="1400"/>
              </a:lnSpc>
              <a:buNone/>
            </a:pPr>
            <a:r>
              <a:rPr lang="en-US" sz="1150" dirty="0">
                <a:solidFill>
                  <a:srgbClr val="FFD9D5"/>
                </a:solidFill>
                <a:latin typeface="Calibri" pitchFamily="34" charset="0"/>
                <a:ea typeface="Calibri" pitchFamily="34" charset="-122"/>
                <a:cs typeface="Calibri" pitchFamily="34" charset="-120"/>
              </a:rPr>
              <a:t>TimeSeries · Hash</a:t>
            </a:r>
            <a:endParaRPr lang="en-US" sz="1150" dirty="0"/>
          </a:p>
          <a:p>
            <a:pPr algn="ctr" indent="0" marL="0">
              <a:lnSpc>
                <a:spcPts val="1400"/>
              </a:lnSpc>
              <a:buNone/>
            </a:pPr>
            <a:r>
              <a:rPr lang="en-US" sz="1150" dirty="0">
                <a:solidFill>
                  <a:srgbClr val="FFD9D5"/>
                </a:solidFill>
                <a:latin typeface="Calibri" pitchFamily="34" charset="0"/>
                <a:ea typeface="Calibri" pitchFamily="34" charset="-122"/>
                <a:cs typeface="Calibri" pitchFamily="34" charset="-120"/>
              </a:rPr>
              <a:t>Pub/Sub</a:t>
            </a:r>
            <a:endParaRPr lang="en-US" sz="1150" dirty="0"/>
          </a:p>
        </p:txBody>
      </p:sp>
      <p:sp>
        <p:nvSpPr>
          <p:cNvPr id="13" name="Shape 11"/>
          <p:cNvSpPr/>
          <p:nvPr/>
        </p:nvSpPr>
        <p:spPr>
          <a:xfrm>
            <a:off x="3877056" y="2743200"/>
            <a:ext cx="530352" cy="0"/>
          </a:xfrm>
          <a:prstGeom prst="line">
            <a:avLst/>
          </a:prstGeom>
          <a:noFill/>
          <a:ln w="28575">
            <a:solidFill>
              <a:srgbClr val="5C6B73"/>
            </a:solidFill>
            <a:prstDash val="solid"/>
            <a:tailEnd type="triangle"/>
          </a:ln>
        </p:spPr>
      </p:sp>
      <p:sp>
        <p:nvSpPr>
          <p:cNvPr id="14" name="Shape 12"/>
          <p:cNvSpPr/>
          <p:nvPr/>
        </p:nvSpPr>
        <p:spPr>
          <a:xfrm>
            <a:off x="7772400" y="2743200"/>
            <a:ext cx="521208" cy="0"/>
          </a:xfrm>
          <a:prstGeom prst="line">
            <a:avLst/>
          </a:prstGeom>
          <a:noFill/>
          <a:ln w="28575">
            <a:solidFill>
              <a:srgbClr val="5C6B73"/>
            </a:solidFill>
            <a:prstDash val="solid"/>
            <a:tailEnd type="triangle"/>
          </a:ln>
        </p:spPr>
      </p:sp>
      <p:sp>
        <p:nvSpPr>
          <p:cNvPr id="15" name="Text 13"/>
          <p:cNvSpPr/>
          <p:nvPr/>
        </p:nvSpPr>
        <p:spPr>
          <a:xfrm>
            <a:off x="3749040" y="1581912"/>
            <a:ext cx="3931920" cy="274320"/>
          </a:xfrm>
          <a:prstGeom prst="rect">
            <a:avLst/>
          </a:prstGeom>
          <a:noFill/>
          <a:ln/>
        </p:spPr>
        <p:txBody>
          <a:bodyPr wrap="square" lIns="0" tIns="0" rIns="0" bIns="0" rtlCol="0" anchor="ctr"/>
          <a:lstStyle/>
          <a:p>
            <a:pPr algn="ctr" indent="0" marL="0">
              <a:buNone/>
            </a:pPr>
            <a:r>
              <a:rPr lang="en-US" sz="1000" i="1" dirty="0">
                <a:solidFill>
                  <a:srgbClr val="5C6B73"/>
                </a:solidFill>
                <a:latin typeface="Calibri" pitchFamily="34" charset="0"/>
                <a:ea typeface="Calibri" pitchFamily="34" charset="-122"/>
                <a:cs typeface="Calibri" pitchFamily="34" charset="-120"/>
              </a:rPr>
              <a:t>streamset / recorded  →  one request</a:t>
            </a:r>
            <a:endParaRPr lang="en-US" sz="1000" dirty="0"/>
          </a:p>
        </p:txBody>
      </p:sp>
      <p:sp>
        <p:nvSpPr>
          <p:cNvPr id="16" name="Text 14"/>
          <p:cNvSpPr/>
          <p:nvPr/>
        </p:nvSpPr>
        <p:spPr>
          <a:xfrm>
            <a:off x="7635240" y="1581912"/>
            <a:ext cx="3749040" cy="274320"/>
          </a:xfrm>
          <a:prstGeom prst="rect">
            <a:avLst/>
          </a:prstGeom>
          <a:noFill/>
          <a:ln/>
        </p:spPr>
        <p:txBody>
          <a:bodyPr wrap="square" lIns="0" tIns="0" rIns="0" bIns="0" rtlCol="0" anchor="ctr"/>
          <a:lstStyle/>
          <a:p>
            <a:pPr algn="ctr" indent="0" marL="0">
              <a:buNone/>
            </a:pPr>
            <a:r>
              <a:rPr lang="en-US" sz="1000" i="1" dirty="0">
                <a:solidFill>
                  <a:srgbClr val="5C6B73"/>
                </a:solidFill>
                <a:latin typeface="Calibri" pitchFamily="34" charset="0"/>
                <a:ea typeface="Calibri" pitchFamily="34" charset="-122"/>
                <a:cs typeface="Calibri" pitchFamily="34" charset="-120"/>
              </a:rPr>
              <a:t>TS.ADD · HSET · PUBLISH</a:t>
            </a:r>
            <a:endParaRPr lang="en-US" sz="1000" dirty="0"/>
          </a:p>
        </p:txBody>
      </p:sp>
      <p:sp>
        <p:nvSpPr>
          <p:cNvPr id="17" name="Text 15"/>
          <p:cNvSpPr/>
          <p:nvPr/>
        </p:nvSpPr>
        <p:spPr>
          <a:xfrm>
            <a:off x="640080" y="4160520"/>
            <a:ext cx="10058400" cy="365760"/>
          </a:xfrm>
          <a:prstGeom prst="rect">
            <a:avLst/>
          </a:prstGeom>
          <a:noFill/>
          <a:ln/>
        </p:spPr>
        <p:txBody>
          <a:bodyPr wrap="square" lIns="0" tIns="0" rIns="0" bIns="0" rtlCol="0" anchor="ctr"/>
          <a:lstStyle/>
          <a:p>
            <a:pPr indent="0" marL="0">
              <a:buNone/>
            </a:pPr>
            <a:r>
              <a:rPr lang="en-US" sz="1400" b="1" dirty="0">
                <a:solidFill>
                  <a:srgbClr val="163341"/>
                </a:solidFill>
                <a:latin typeface="Calibri" pitchFamily="34" charset="0"/>
                <a:ea typeface="Calibri" pitchFamily="34" charset="-122"/>
                <a:cs typeface="Calibri" pitchFamily="34" charset="-120"/>
              </a:rPr>
              <a:t>What consumers read from Redis</a:t>
            </a:r>
            <a:endParaRPr lang="en-US" sz="1400" dirty="0"/>
          </a:p>
        </p:txBody>
      </p:sp>
      <p:sp>
        <p:nvSpPr>
          <p:cNvPr id="18" name="Shape 16"/>
          <p:cNvSpPr/>
          <p:nvPr/>
        </p:nvSpPr>
        <p:spPr>
          <a:xfrm>
            <a:off x="640080" y="4617720"/>
            <a:ext cx="2724912" cy="1371600"/>
          </a:xfrm>
          <a:prstGeom prst="roundRect">
            <a:avLst>
              <a:gd name="adj" fmla="val 5333"/>
            </a:avLst>
          </a:prstGeom>
          <a:solidFill>
            <a:srgbClr val="FFFFFF"/>
          </a:solidFill>
          <a:ln w="12700">
            <a:solidFill>
              <a:srgbClr val="D8E0E3"/>
            </a:solidFill>
            <a:prstDash val="solid"/>
          </a:ln>
          <a:effectLst>
            <a:outerShdw sx="100000" sy="100000" kx="0" ky="0" algn="bl" rotWithShape="0" blurRad="76200" dist="38100" dir="5400000">
              <a:srgbClr val="9AA7AD">
                <a:alpha val="35000"/>
              </a:srgbClr>
            </a:outerShdw>
          </a:effectLst>
        </p:spPr>
      </p:sp>
      <p:sp>
        <p:nvSpPr>
          <p:cNvPr id="19" name="Text 17"/>
          <p:cNvSpPr/>
          <p:nvPr/>
        </p:nvSpPr>
        <p:spPr>
          <a:xfrm>
            <a:off x="822960" y="4800600"/>
            <a:ext cx="2359152" cy="411480"/>
          </a:xfrm>
          <a:prstGeom prst="rect">
            <a:avLst/>
          </a:prstGeom>
          <a:noFill/>
          <a:ln/>
        </p:spPr>
        <p:txBody>
          <a:bodyPr wrap="square" lIns="0" tIns="0" rIns="0" bIns="0" rtlCol="0" anchor="ctr"/>
          <a:lstStyle/>
          <a:p>
            <a:pPr indent="0" marL="0">
              <a:buNone/>
            </a:pPr>
            <a:r>
              <a:rPr lang="en-US" sz="1500" b="1" dirty="0">
                <a:solidFill>
                  <a:srgbClr val="FF4438"/>
                </a:solidFill>
                <a:latin typeface="Courier New" pitchFamily="34" charset="0"/>
                <a:ea typeface="Courier New" pitchFamily="34" charset="-122"/>
                <a:cs typeface="Courier New" pitchFamily="34" charset="-120"/>
              </a:rPr>
              <a:t>pi:ts:*</a:t>
            </a:r>
            <a:endParaRPr lang="en-US" sz="1500" dirty="0"/>
          </a:p>
        </p:txBody>
      </p:sp>
      <p:sp>
        <p:nvSpPr>
          <p:cNvPr id="20" name="Text 18"/>
          <p:cNvSpPr/>
          <p:nvPr/>
        </p:nvSpPr>
        <p:spPr>
          <a:xfrm>
            <a:off x="822960" y="5230368"/>
            <a:ext cx="2359152" cy="640080"/>
          </a:xfrm>
          <a:prstGeom prst="rect">
            <a:avLst/>
          </a:prstGeom>
          <a:noFill/>
          <a:ln/>
        </p:spPr>
        <p:txBody>
          <a:bodyPr wrap="square" lIns="0" tIns="0" rIns="0" bIns="0" rtlCol="0" anchor="ctr"/>
          <a:lstStyle/>
          <a:p>
            <a:pPr indent="0" marL="0">
              <a:lnSpc>
                <a:spcPts val="1500"/>
              </a:lnSpc>
              <a:buNone/>
            </a:pPr>
            <a:r>
              <a:rPr lang="en-US" sz="1200" dirty="0">
                <a:solidFill>
                  <a:srgbClr val="163341"/>
                </a:solidFill>
                <a:latin typeface="Calibri" pitchFamily="34" charset="0"/>
                <a:ea typeface="Calibri" pitchFamily="34" charset="-122"/>
                <a:cs typeface="Calibri" pitchFamily="34" charset="-120"/>
              </a:rPr>
              <a:t>Full history (RedisTimeSeries)</a:t>
            </a:r>
            <a:endParaRPr lang="en-US" sz="1200" dirty="0"/>
          </a:p>
        </p:txBody>
      </p:sp>
      <p:sp>
        <p:nvSpPr>
          <p:cNvPr id="21" name="Shape 19"/>
          <p:cNvSpPr/>
          <p:nvPr/>
        </p:nvSpPr>
        <p:spPr>
          <a:xfrm>
            <a:off x="3483864" y="4617720"/>
            <a:ext cx="2724912" cy="1371600"/>
          </a:xfrm>
          <a:prstGeom prst="roundRect">
            <a:avLst>
              <a:gd name="adj" fmla="val 5333"/>
            </a:avLst>
          </a:prstGeom>
          <a:solidFill>
            <a:srgbClr val="FFFFFF"/>
          </a:solidFill>
          <a:ln w="12700">
            <a:solidFill>
              <a:srgbClr val="D8E0E3"/>
            </a:solidFill>
            <a:prstDash val="solid"/>
          </a:ln>
          <a:effectLst>
            <a:outerShdw sx="100000" sy="100000" kx="0" ky="0" algn="bl" rotWithShape="0" blurRad="76200" dist="38100" dir="5400000">
              <a:srgbClr val="9AA7AD">
                <a:alpha val="35000"/>
              </a:srgbClr>
            </a:outerShdw>
          </a:effectLst>
        </p:spPr>
      </p:sp>
      <p:sp>
        <p:nvSpPr>
          <p:cNvPr id="22" name="Text 20"/>
          <p:cNvSpPr/>
          <p:nvPr/>
        </p:nvSpPr>
        <p:spPr>
          <a:xfrm>
            <a:off x="3666744" y="4800600"/>
            <a:ext cx="2359152" cy="411480"/>
          </a:xfrm>
          <a:prstGeom prst="rect">
            <a:avLst/>
          </a:prstGeom>
          <a:noFill/>
          <a:ln/>
        </p:spPr>
        <p:txBody>
          <a:bodyPr wrap="square" lIns="0" tIns="0" rIns="0" bIns="0" rtlCol="0" anchor="ctr"/>
          <a:lstStyle/>
          <a:p>
            <a:pPr indent="0" marL="0">
              <a:buNone/>
            </a:pPr>
            <a:r>
              <a:rPr lang="en-US" sz="1500" b="1" dirty="0">
                <a:solidFill>
                  <a:srgbClr val="FF4438"/>
                </a:solidFill>
                <a:latin typeface="Courier New" pitchFamily="34" charset="0"/>
                <a:ea typeface="Courier New" pitchFamily="34" charset="-122"/>
                <a:cs typeface="Courier New" pitchFamily="34" charset="-120"/>
              </a:rPr>
              <a:t>pi:latest:*</a:t>
            </a:r>
            <a:endParaRPr lang="en-US" sz="1500" dirty="0"/>
          </a:p>
        </p:txBody>
      </p:sp>
      <p:sp>
        <p:nvSpPr>
          <p:cNvPr id="23" name="Text 21"/>
          <p:cNvSpPr/>
          <p:nvPr/>
        </p:nvSpPr>
        <p:spPr>
          <a:xfrm>
            <a:off x="3666744" y="5230368"/>
            <a:ext cx="2359152" cy="640080"/>
          </a:xfrm>
          <a:prstGeom prst="rect">
            <a:avLst/>
          </a:prstGeom>
          <a:noFill/>
          <a:ln/>
        </p:spPr>
        <p:txBody>
          <a:bodyPr wrap="square" lIns="0" tIns="0" rIns="0" bIns="0" rtlCol="0" anchor="ctr"/>
          <a:lstStyle/>
          <a:p>
            <a:pPr indent="0" marL="0">
              <a:lnSpc>
                <a:spcPts val="1500"/>
              </a:lnSpc>
              <a:buNone/>
            </a:pPr>
            <a:r>
              <a:rPr lang="en-US" sz="1200" dirty="0">
                <a:solidFill>
                  <a:srgbClr val="163341"/>
                </a:solidFill>
                <a:latin typeface="Calibri" pitchFamily="34" charset="0"/>
                <a:ea typeface="Calibri" pitchFamily="34" charset="-122"/>
                <a:cs typeface="Calibri" pitchFamily="34" charset="-120"/>
              </a:rPr>
              <a:t>Current-value snapshot (Hash)</a:t>
            </a:r>
            <a:endParaRPr lang="en-US" sz="1200" dirty="0"/>
          </a:p>
        </p:txBody>
      </p:sp>
      <p:sp>
        <p:nvSpPr>
          <p:cNvPr id="24" name="Shape 22"/>
          <p:cNvSpPr/>
          <p:nvPr/>
        </p:nvSpPr>
        <p:spPr>
          <a:xfrm>
            <a:off x="6327648" y="4617720"/>
            <a:ext cx="2724912" cy="1371600"/>
          </a:xfrm>
          <a:prstGeom prst="roundRect">
            <a:avLst>
              <a:gd name="adj" fmla="val 5333"/>
            </a:avLst>
          </a:prstGeom>
          <a:solidFill>
            <a:srgbClr val="FFFFFF"/>
          </a:solidFill>
          <a:ln w="12700">
            <a:solidFill>
              <a:srgbClr val="D8E0E3"/>
            </a:solidFill>
            <a:prstDash val="solid"/>
          </a:ln>
          <a:effectLst>
            <a:outerShdw sx="100000" sy="100000" kx="0" ky="0" algn="bl" rotWithShape="0" blurRad="76200" dist="38100" dir="5400000">
              <a:srgbClr val="9AA7AD">
                <a:alpha val="35000"/>
              </a:srgbClr>
            </a:outerShdw>
          </a:effectLst>
        </p:spPr>
      </p:sp>
      <p:sp>
        <p:nvSpPr>
          <p:cNvPr id="25" name="Text 23"/>
          <p:cNvSpPr/>
          <p:nvPr/>
        </p:nvSpPr>
        <p:spPr>
          <a:xfrm>
            <a:off x="6510528" y="4800600"/>
            <a:ext cx="2359152" cy="411480"/>
          </a:xfrm>
          <a:prstGeom prst="rect">
            <a:avLst/>
          </a:prstGeom>
          <a:noFill/>
          <a:ln/>
        </p:spPr>
        <p:txBody>
          <a:bodyPr wrap="square" lIns="0" tIns="0" rIns="0" bIns="0" rtlCol="0" anchor="ctr"/>
          <a:lstStyle/>
          <a:p>
            <a:pPr indent="0" marL="0">
              <a:buNone/>
            </a:pPr>
            <a:r>
              <a:rPr lang="en-US" sz="1500" b="1" dirty="0">
                <a:solidFill>
                  <a:srgbClr val="FF4438"/>
                </a:solidFill>
                <a:latin typeface="Courier New" pitchFamily="34" charset="0"/>
                <a:ea typeface="Courier New" pitchFamily="34" charset="-122"/>
                <a:cs typeface="Courier New" pitchFamily="34" charset="-120"/>
              </a:rPr>
              <a:t>pi:checkpoint:*</a:t>
            </a:r>
            <a:endParaRPr lang="en-US" sz="1500" dirty="0"/>
          </a:p>
        </p:txBody>
      </p:sp>
      <p:sp>
        <p:nvSpPr>
          <p:cNvPr id="26" name="Text 24"/>
          <p:cNvSpPr/>
          <p:nvPr/>
        </p:nvSpPr>
        <p:spPr>
          <a:xfrm>
            <a:off x="6510528" y="5230368"/>
            <a:ext cx="2359152" cy="640080"/>
          </a:xfrm>
          <a:prstGeom prst="rect">
            <a:avLst/>
          </a:prstGeom>
          <a:noFill/>
          <a:ln/>
        </p:spPr>
        <p:txBody>
          <a:bodyPr wrap="square" lIns="0" tIns="0" rIns="0" bIns="0" rtlCol="0" anchor="ctr"/>
          <a:lstStyle/>
          <a:p>
            <a:pPr indent="0" marL="0">
              <a:lnSpc>
                <a:spcPts val="1500"/>
              </a:lnSpc>
              <a:buNone/>
            </a:pPr>
            <a:r>
              <a:rPr lang="en-US" sz="1200" dirty="0">
                <a:solidFill>
                  <a:srgbClr val="163341"/>
                </a:solidFill>
                <a:latin typeface="Calibri" pitchFamily="34" charset="0"/>
                <a:ea typeface="Calibri" pitchFamily="34" charset="-122"/>
                <a:cs typeface="Calibri" pitchFamily="34" charset="-120"/>
              </a:rPr>
              <a:t>Last-seen ts for gap recovery</a:t>
            </a:r>
            <a:endParaRPr lang="en-US" sz="1200" dirty="0"/>
          </a:p>
        </p:txBody>
      </p:sp>
      <p:sp>
        <p:nvSpPr>
          <p:cNvPr id="27" name="Shape 25"/>
          <p:cNvSpPr/>
          <p:nvPr/>
        </p:nvSpPr>
        <p:spPr>
          <a:xfrm>
            <a:off x="9171432" y="4617720"/>
            <a:ext cx="2724912" cy="1371600"/>
          </a:xfrm>
          <a:prstGeom prst="roundRect">
            <a:avLst>
              <a:gd name="adj" fmla="val 5333"/>
            </a:avLst>
          </a:prstGeom>
          <a:solidFill>
            <a:srgbClr val="FFFFFF"/>
          </a:solidFill>
          <a:ln w="12700">
            <a:solidFill>
              <a:srgbClr val="D8E0E3"/>
            </a:solidFill>
            <a:prstDash val="solid"/>
          </a:ln>
          <a:effectLst>
            <a:outerShdw sx="100000" sy="100000" kx="0" ky="0" algn="bl" rotWithShape="0" blurRad="76200" dist="38100" dir="5400000">
              <a:srgbClr val="9AA7AD">
                <a:alpha val="35000"/>
              </a:srgbClr>
            </a:outerShdw>
          </a:effectLst>
        </p:spPr>
      </p:sp>
      <p:sp>
        <p:nvSpPr>
          <p:cNvPr id="28" name="Text 26"/>
          <p:cNvSpPr/>
          <p:nvPr/>
        </p:nvSpPr>
        <p:spPr>
          <a:xfrm>
            <a:off x="9354312" y="4800600"/>
            <a:ext cx="2359152" cy="411480"/>
          </a:xfrm>
          <a:prstGeom prst="rect">
            <a:avLst/>
          </a:prstGeom>
          <a:noFill/>
          <a:ln/>
        </p:spPr>
        <p:txBody>
          <a:bodyPr wrap="square" lIns="0" tIns="0" rIns="0" bIns="0" rtlCol="0" anchor="ctr"/>
          <a:lstStyle/>
          <a:p>
            <a:pPr indent="0" marL="0">
              <a:buNone/>
            </a:pPr>
            <a:r>
              <a:rPr lang="en-US" sz="1500" b="1" dirty="0">
                <a:solidFill>
                  <a:srgbClr val="FF4438"/>
                </a:solidFill>
                <a:latin typeface="Courier New" pitchFamily="34" charset="0"/>
                <a:ea typeface="Courier New" pitchFamily="34" charset="-122"/>
                <a:cs typeface="Courier New" pitchFamily="34" charset="-120"/>
              </a:rPr>
              <a:t>pi:updates</a:t>
            </a:r>
            <a:endParaRPr lang="en-US" sz="1500" dirty="0"/>
          </a:p>
        </p:txBody>
      </p:sp>
      <p:sp>
        <p:nvSpPr>
          <p:cNvPr id="29" name="Text 27"/>
          <p:cNvSpPr/>
          <p:nvPr/>
        </p:nvSpPr>
        <p:spPr>
          <a:xfrm>
            <a:off x="9354312" y="5230368"/>
            <a:ext cx="2359152" cy="640080"/>
          </a:xfrm>
          <a:prstGeom prst="rect">
            <a:avLst/>
          </a:prstGeom>
          <a:noFill/>
          <a:ln/>
        </p:spPr>
        <p:txBody>
          <a:bodyPr wrap="square" lIns="0" tIns="0" rIns="0" bIns="0" rtlCol="0" anchor="ctr"/>
          <a:lstStyle/>
          <a:p>
            <a:pPr indent="0" marL="0">
              <a:lnSpc>
                <a:spcPts val="1500"/>
              </a:lnSpc>
              <a:buNone/>
            </a:pPr>
            <a:r>
              <a:rPr lang="en-US" sz="1200" dirty="0">
                <a:solidFill>
                  <a:srgbClr val="163341"/>
                </a:solidFill>
                <a:latin typeface="Calibri" pitchFamily="34" charset="0"/>
                <a:ea typeface="Calibri" pitchFamily="34" charset="-122"/>
                <a:cs typeface="Calibri" pitchFamily="34" charset="-120"/>
              </a:rPr>
              <a:t>Live feed (Pub/Sub)</a:t>
            </a:r>
            <a:endParaRPr lang="en-US" sz="1200" dirty="0"/>
          </a:p>
        </p:txBody>
      </p:sp>
      <p:sp>
        <p:nvSpPr>
          <p:cNvPr id="30" name="Text 28"/>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5C6B73"/>
                </a:solidFill>
                <a:latin typeface="Calibri" pitchFamily="34" charset="0"/>
                <a:ea typeface="Calibri" pitchFamily="34" charset="-122"/>
                <a:cs typeface="Calibri" pitchFamily="34" charset="-120"/>
              </a:rPr>
              <a:t>github.com/amitmknit/aveva-pi-redis-integration</a:t>
            </a:r>
            <a:endParaRPr lang="en-US" sz="900" dirty="0"/>
          </a:p>
        </p:txBody>
      </p:sp>
      <p:sp>
        <p:nvSpPr>
          <p:cNvPr id="31" name="Text 29"/>
          <p:cNvSpPr/>
          <p:nvPr/>
        </p:nvSpPr>
        <p:spPr>
          <a:xfrm>
            <a:off x="8028432" y="6473952"/>
            <a:ext cx="3657600" cy="274320"/>
          </a:xfrm>
          <a:prstGeom prst="rect">
            <a:avLst/>
          </a:prstGeom>
          <a:noFill/>
          <a:ln/>
        </p:spPr>
        <p:txBody>
          <a:bodyPr wrap="square" lIns="0" tIns="0" rIns="0" bIns="0" rtlCol="0" anchor="ctr"/>
          <a:lstStyle/>
          <a:p>
            <a:pPr algn="r" indent="0" marL="0">
              <a:buNone/>
            </a:pPr>
            <a:r>
              <a:rPr lang="en-US" sz="900" dirty="0">
                <a:solidFill>
                  <a:srgbClr val="5C6B73"/>
                </a:solidFill>
                <a:latin typeface="Calibri" pitchFamily="34" charset="0"/>
                <a:ea typeface="Calibri" pitchFamily="34" charset="-122"/>
                <a:cs typeface="Calibri" pitchFamily="34" charset="-120"/>
              </a:rPr>
              <a:t>Redis  ·  Proof of Concept</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9"/>
        </a:solidFill>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indent="0" marL="0">
              <a:buNone/>
            </a:pPr>
            <a:r>
              <a:rPr lang="en-US" sz="1200" b="1" spc="300" kern="0" dirty="0">
                <a:solidFill>
                  <a:srgbClr val="FF4438"/>
                </a:solidFill>
                <a:latin typeface="Calibri" pitchFamily="34" charset="0"/>
                <a:ea typeface="Calibri" pitchFamily="34" charset="-122"/>
                <a:cs typeface="Calibri" pitchFamily="34" charset="-120"/>
              </a:rPr>
              <a:t>REDIS INTEGRATION</a:t>
            </a:r>
            <a:endParaRPr lang="en-US" sz="1200" dirty="0"/>
          </a:p>
        </p:txBody>
      </p:sp>
      <p:sp>
        <p:nvSpPr>
          <p:cNvPr id="3" name="Text 1"/>
          <p:cNvSpPr/>
          <p:nvPr/>
        </p:nvSpPr>
        <p:spPr>
          <a:xfrm>
            <a:off x="640080" y="822960"/>
            <a:ext cx="10515600" cy="640080"/>
          </a:xfrm>
          <a:prstGeom prst="rect">
            <a:avLst/>
          </a:prstGeom>
          <a:noFill/>
          <a:ln/>
        </p:spPr>
        <p:txBody>
          <a:bodyPr wrap="square" lIns="0" tIns="0" rIns="0" bIns="0" rtlCol="0" anchor="ctr"/>
          <a:lstStyle/>
          <a:p>
            <a:pPr indent="0" marL="0">
              <a:buNone/>
            </a:pPr>
            <a:r>
              <a:rPr lang="en-US" sz="3200" b="1" dirty="0">
                <a:solidFill>
                  <a:srgbClr val="163341"/>
                </a:solidFill>
                <a:latin typeface="Cambria" pitchFamily="34" charset="0"/>
                <a:ea typeface="Cambria" pitchFamily="34" charset="-122"/>
                <a:cs typeface="Cambria" pitchFamily="34" charset="-120"/>
              </a:rPr>
              <a:t>The Redis building blocks we use</a:t>
            </a:r>
            <a:endParaRPr lang="en-US" sz="3200" dirty="0"/>
          </a:p>
        </p:txBody>
      </p:sp>
      <p:sp>
        <p:nvSpPr>
          <p:cNvPr id="4" name="Shape 2"/>
          <p:cNvSpPr/>
          <p:nvPr/>
        </p:nvSpPr>
        <p:spPr>
          <a:xfrm>
            <a:off x="640080" y="1874520"/>
            <a:ext cx="5276088" cy="1920240"/>
          </a:xfrm>
          <a:prstGeom prst="roundRect">
            <a:avLst>
              <a:gd name="adj" fmla="val 3810"/>
            </a:avLst>
          </a:prstGeom>
          <a:solidFill>
            <a:srgbClr val="FFFFFF"/>
          </a:solidFill>
          <a:ln w="12700">
            <a:solidFill>
              <a:srgbClr val="D8E0E3"/>
            </a:solidFill>
            <a:prstDash val="solid"/>
          </a:ln>
          <a:effectLst>
            <a:outerShdw sx="100000" sy="100000" kx="0" ky="0" algn="bl" rotWithShape="0" blurRad="76200" dist="38100" dir="5400000">
              <a:srgbClr val="9AA7AD">
                <a:alpha val="35000"/>
              </a:srgbClr>
            </a:outerShdw>
          </a:effectLst>
        </p:spPr>
      </p:sp>
      <p:sp>
        <p:nvSpPr>
          <p:cNvPr id="5" name="Shape 3"/>
          <p:cNvSpPr/>
          <p:nvPr/>
        </p:nvSpPr>
        <p:spPr>
          <a:xfrm>
            <a:off x="960120" y="2167128"/>
            <a:ext cx="457200" cy="457200"/>
          </a:xfrm>
          <a:prstGeom prst="roundRect">
            <a:avLst>
              <a:gd name="adj" fmla="val 20000"/>
            </a:avLst>
          </a:prstGeom>
          <a:solidFill>
            <a:srgbClr val="FF4438"/>
          </a:solidFill>
          <a:ln/>
        </p:spPr>
      </p:sp>
      <p:sp>
        <p:nvSpPr>
          <p:cNvPr id="6" name="Text 4"/>
          <p:cNvSpPr/>
          <p:nvPr/>
        </p:nvSpPr>
        <p:spPr>
          <a:xfrm>
            <a:off x="1600200" y="2148840"/>
            <a:ext cx="4087368" cy="502920"/>
          </a:xfrm>
          <a:prstGeom prst="rect">
            <a:avLst/>
          </a:prstGeom>
          <a:noFill/>
          <a:ln/>
        </p:spPr>
        <p:txBody>
          <a:bodyPr wrap="square" lIns="0" tIns="0" rIns="0" bIns="0" rtlCol="0" anchor="ctr"/>
          <a:lstStyle/>
          <a:p>
            <a:pPr indent="0" marL="0">
              <a:buNone/>
            </a:pPr>
            <a:r>
              <a:rPr lang="en-US" sz="1700" b="1" dirty="0">
                <a:solidFill>
                  <a:srgbClr val="163341"/>
                </a:solidFill>
                <a:latin typeface="Calibri" pitchFamily="34" charset="0"/>
                <a:ea typeface="Calibri" pitchFamily="34" charset="-122"/>
                <a:cs typeface="Calibri" pitchFamily="34" charset="-120"/>
              </a:rPr>
              <a:t>RedisTimeSeries</a:t>
            </a:r>
            <a:endParaRPr lang="en-US" sz="1700" dirty="0"/>
          </a:p>
        </p:txBody>
      </p:sp>
      <p:sp>
        <p:nvSpPr>
          <p:cNvPr id="7" name="Text 5"/>
          <p:cNvSpPr/>
          <p:nvPr/>
        </p:nvSpPr>
        <p:spPr>
          <a:xfrm>
            <a:off x="987552" y="2770632"/>
            <a:ext cx="4590288" cy="320040"/>
          </a:xfrm>
          <a:prstGeom prst="rect">
            <a:avLst/>
          </a:prstGeom>
          <a:noFill/>
          <a:ln/>
        </p:spPr>
        <p:txBody>
          <a:bodyPr wrap="square" lIns="0" tIns="0" rIns="0" bIns="0" rtlCol="0" anchor="ctr"/>
          <a:lstStyle/>
          <a:p>
            <a:pPr indent="0" marL="0">
              <a:buNone/>
            </a:pPr>
            <a:r>
              <a:rPr lang="en-US" sz="1300" b="1" dirty="0">
                <a:solidFill>
                  <a:srgbClr val="FF4438"/>
                </a:solidFill>
                <a:latin typeface="Courier New" pitchFamily="34" charset="0"/>
                <a:ea typeface="Courier New" pitchFamily="34" charset="-122"/>
                <a:cs typeface="Courier New" pitchFamily="34" charset="-120"/>
              </a:rPr>
              <a:t>TS.ADD · TS.CREATERULE · TS.MRANGE</a:t>
            </a:r>
            <a:endParaRPr lang="en-US" sz="1300" dirty="0"/>
          </a:p>
        </p:txBody>
      </p:sp>
      <p:sp>
        <p:nvSpPr>
          <p:cNvPr id="8" name="Text 6"/>
          <p:cNvSpPr/>
          <p:nvPr/>
        </p:nvSpPr>
        <p:spPr>
          <a:xfrm>
            <a:off x="987552" y="3108960"/>
            <a:ext cx="4590288" cy="502920"/>
          </a:xfrm>
          <a:prstGeom prst="rect">
            <a:avLst/>
          </a:prstGeom>
          <a:noFill/>
          <a:ln/>
        </p:spPr>
        <p:txBody>
          <a:bodyPr wrap="square" lIns="0" tIns="0" rIns="0" bIns="0" rtlCol="0" anchor="ctr"/>
          <a:lstStyle/>
          <a:p>
            <a:pPr indent="0" marL="0">
              <a:lnSpc>
                <a:spcPts val="1500"/>
              </a:lnSpc>
              <a:buNone/>
            </a:pPr>
            <a:r>
              <a:rPr lang="en-US" sz="1250" dirty="0">
                <a:solidFill>
                  <a:srgbClr val="5C6B73"/>
                </a:solidFill>
                <a:latin typeface="Calibri" pitchFamily="34" charset="0"/>
                <a:ea typeface="Calibri" pitchFamily="34" charset="-122"/>
                <a:cs typeface="Calibri" pitchFamily="34" charset="-120"/>
              </a:rPr>
              <a:t>Ingest, auto-downsample to rollups, query many tags by label.</a:t>
            </a:r>
            <a:endParaRPr lang="en-US" sz="1250" dirty="0"/>
          </a:p>
        </p:txBody>
      </p:sp>
      <p:sp>
        <p:nvSpPr>
          <p:cNvPr id="9" name="Shape 7"/>
          <p:cNvSpPr/>
          <p:nvPr/>
        </p:nvSpPr>
        <p:spPr>
          <a:xfrm>
            <a:off x="6272784" y="1874520"/>
            <a:ext cx="5276088" cy="1920240"/>
          </a:xfrm>
          <a:prstGeom prst="roundRect">
            <a:avLst>
              <a:gd name="adj" fmla="val 3810"/>
            </a:avLst>
          </a:prstGeom>
          <a:solidFill>
            <a:srgbClr val="FFFFFF"/>
          </a:solidFill>
          <a:ln w="12700">
            <a:solidFill>
              <a:srgbClr val="D8E0E3"/>
            </a:solidFill>
            <a:prstDash val="solid"/>
          </a:ln>
          <a:effectLst>
            <a:outerShdw sx="100000" sy="100000" kx="0" ky="0" algn="bl" rotWithShape="0" blurRad="76200" dist="38100" dir="5400000">
              <a:srgbClr val="9AA7AD">
                <a:alpha val="35000"/>
              </a:srgbClr>
            </a:outerShdw>
          </a:effectLst>
        </p:spPr>
      </p:sp>
      <p:sp>
        <p:nvSpPr>
          <p:cNvPr id="10" name="Shape 8"/>
          <p:cNvSpPr/>
          <p:nvPr/>
        </p:nvSpPr>
        <p:spPr>
          <a:xfrm>
            <a:off x="6592824" y="2167128"/>
            <a:ext cx="457200" cy="457200"/>
          </a:xfrm>
          <a:prstGeom prst="roundRect">
            <a:avLst>
              <a:gd name="adj" fmla="val 20000"/>
            </a:avLst>
          </a:prstGeom>
          <a:solidFill>
            <a:srgbClr val="FF4438"/>
          </a:solidFill>
          <a:ln/>
        </p:spPr>
      </p:sp>
      <p:sp>
        <p:nvSpPr>
          <p:cNvPr id="11" name="Text 9"/>
          <p:cNvSpPr/>
          <p:nvPr/>
        </p:nvSpPr>
        <p:spPr>
          <a:xfrm>
            <a:off x="7232904" y="2148840"/>
            <a:ext cx="4087368" cy="502920"/>
          </a:xfrm>
          <a:prstGeom prst="rect">
            <a:avLst/>
          </a:prstGeom>
          <a:noFill/>
          <a:ln/>
        </p:spPr>
        <p:txBody>
          <a:bodyPr wrap="square" lIns="0" tIns="0" rIns="0" bIns="0" rtlCol="0" anchor="ctr"/>
          <a:lstStyle/>
          <a:p>
            <a:pPr indent="0" marL="0">
              <a:buNone/>
            </a:pPr>
            <a:r>
              <a:rPr lang="en-US" sz="1700" b="1" dirty="0">
                <a:solidFill>
                  <a:srgbClr val="163341"/>
                </a:solidFill>
                <a:latin typeface="Calibri" pitchFamily="34" charset="0"/>
                <a:ea typeface="Calibri" pitchFamily="34" charset="-122"/>
                <a:cs typeface="Calibri" pitchFamily="34" charset="-120"/>
              </a:rPr>
              <a:t>Hash</a:t>
            </a:r>
            <a:endParaRPr lang="en-US" sz="1700" dirty="0"/>
          </a:p>
        </p:txBody>
      </p:sp>
      <p:sp>
        <p:nvSpPr>
          <p:cNvPr id="12" name="Text 10"/>
          <p:cNvSpPr/>
          <p:nvPr/>
        </p:nvSpPr>
        <p:spPr>
          <a:xfrm>
            <a:off x="6620256" y="2770632"/>
            <a:ext cx="4590288" cy="320040"/>
          </a:xfrm>
          <a:prstGeom prst="rect">
            <a:avLst/>
          </a:prstGeom>
          <a:noFill/>
          <a:ln/>
        </p:spPr>
        <p:txBody>
          <a:bodyPr wrap="square" lIns="0" tIns="0" rIns="0" bIns="0" rtlCol="0" anchor="ctr"/>
          <a:lstStyle/>
          <a:p>
            <a:pPr indent="0" marL="0">
              <a:buNone/>
            </a:pPr>
            <a:r>
              <a:rPr lang="en-US" sz="1300" b="1" dirty="0">
                <a:solidFill>
                  <a:srgbClr val="FF4438"/>
                </a:solidFill>
                <a:latin typeface="Courier New" pitchFamily="34" charset="0"/>
                <a:ea typeface="Courier New" pitchFamily="34" charset="-122"/>
                <a:cs typeface="Courier New" pitchFamily="34" charset="-120"/>
              </a:rPr>
              <a:t>HSET</a:t>
            </a:r>
            <a:endParaRPr lang="en-US" sz="1300" dirty="0"/>
          </a:p>
        </p:txBody>
      </p:sp>
      <p:sp>
        <p:nvSpPr>
          <p:cNvPr id="13" name="Text 11"/>
          <p:cNvSpPr/>
          <p:nvPr/>
        </p:nvSpPr>
        <p:spPr>
          <a:xfrm>
            <a:off x="6620256" y="3108960"/>
            <a:ext cx="4590288" cy="502920"/>
          </a:xfrm>
          <a:prstGeom prst="rect">
            <a:avLst/>
          </a:prstGeom>
          <a:noFill/>
          <a:ln/>
        </p:spPr>
        <p:txBody>
          <a:bodyPr wrap="square" lIns="0" tIns="0" rIns="0" bIns="0" rtlCol="0" anchor="ctr"/>
          <a:lstStyle/>
          <a:p>
            <a:pPr indent="0" marL="0">
              <a:lnSpc>
                <a:spcPts val="1500"/>
              </a:lnSpc>
              <a:buNone/>
            </a:pPr>
            <a:r>
              <a:rPr lang="en-US" sz="1250" dirty="0">
                <a:solidFill>
                  <a:srgbClr val="5C6B73"/>
                </a:solidFill>
                <a:latin typeface="Calibri" pitchFamily="34" charset="0"/>
                <a:ea typeface="Calibri" pitchFamily="34" charset="-122"/>
                <a:cs typeface="Calibri" pitchFamily="34" charset="-120"/>
              </a:rPr>
              <a:t>One current-value snapshot per tag for instant lookups.</a:t>
            </a:r>
            <a:endParaRPr lang="en-US" sz="1250" dirty="0"/>
          </a:p>
        </p:txBody>
      </p:sp>
      <p:sp>
        <p:nvSpPr>
          <p:cNvPr id="14" name="Shape 12"/>
          <p:cNvSpPr/>
          <p:nvPr/>
        </p:nvSpPr>
        <p:spPr>
          <a:xfrm>
            <a:off x="640080" y="3977640"/>
            <a:ext cx="5276088" cy="1920240"/>
          </a:xfrm>
          <a:prstGeom prst="roundRect">
            <a:avLst>
              <a:gd name="adj" fmla="val 3810"/>
            </a:avLst>
          </a:prstGeom>
          <a:solidFill>
            <a:srgbClr val="FFFFFF"/>
          </a:solidFill>
          <a:ln w="12700">
            <a:solidFill>
              <a:srgbClr val="D8E0E3"/>
            </a:solidFill>
            <a:prstDash val="solid"/>
          </a:ln>
          <a:effectLst>
            <a:outerShdw sx="100000" sy="100000" kx="0" ky="0" algn="bl" rotWithShape="0" blurRad="76200" dist="38100" dir="5400000">
              <a:srgbClr val="9AA7AD">
                <a:alpha val="35000"/>
              </a:srgbClr>
            </a:outerShdw>
          </a:effectLst>
        </p:spPr>
      </p:sp>
      <p:sp>
        <p:nvSpPr>
          <p:cNvPr id="15" name="Shape 13"/>
          <p:cNvSpPr/>
          <p:nvPr/>
        </p:nvSpPr>
        <p:spPr>
          <a:xfrm>
            <a:off x="960120" y="4270248"/>
            <a:ext cx="457200" cy="457200"/>
          </a:xfrm>
          <a:prstGeom prst="roundRect">
            <a:avLst>
              <a:gd name="adj" fmla="val 20000"/>
            </a:avLst>
          </a:prstGeom>
          <a:solidFill>
            <a:srgbClr val="FF4438"/>
          </a:solidFill>
          <a:ln/>
        </p:spPr>
      </p:sp>
      <p:sp>
        <p:nvSpPr>
          <p:cNvPr id="16" name="Text 14"/>
          <p:cNvSpPr/>
          <p:nvPr/>
        </p:nvSpPr>
        <p:spPr>
          <a:xfrm>
            <a:off x="1600200" y="4251960"/>
            <a:ext cx="4087368" cy="502920"/>
          </a:xfrm>
          <a:prstGeom prst="rect">
            <a:avLst/>
          </a:prstGeom>
          <a:noFill/>
          <a:ln/>
        </p:spPr>
        <p:txBody>
          <a:bodyPr wrap="square" lIns="0" tIns="0" rIns="0" bIns="0" rtlCol="0" anchor="ctr"/>
          <a:lstStyle/>
          <a:p>
            <a:pPr indent="0" marL="0">
              <a:buNone/>
            </a:pPr>
            <a:r>
              <a:rPr lang="en-US" sz="1700" b="1" dirty="0">
                <a:solidFill>
                  <a:srgbClr val="163341"/>
                </a:solidFill>
                <a:latin typeface="Calibri" pitchFamily="34" charset="0"/>
                <a:ea typeface="Calibri" pitchFamily="34" charset="-122"/>
                <a:cs typeface="Calibri" pitchFamily="34" charset="-120"/>
              </a:rPr>
              <a:t>Pub/Sub</a:t>
            </a:r>
            <a:endParaRPr lang="en-US" sz="1700" dirty="0"/>
          </a:p>
        </p:txBody>
      </p:sp>
      <p:sp>
        <p:nvSpPr>
          <p:cNvPr id="17" name="Text 15"/>
          <p:cNvSpPr/>
          <p:nvPr/>
        </p:nvSpPr>
        <p:spPr>
          <a:xfrm>
            <a:off x="987552" y="4873752"/>
            <a:ext cx="4590288" cy="320040"/>
          </a:xfrm>
          <a:prstGeom prst="rect">
            <a:avLst/>
          </a:prstGeom>
          <a:noFill/>
          <a:ln/>
        </p:spPr>
        <p:txBody>
          <a:bodyPr wrap="square" lIns="0" tIns="0" rIns="0" bIns="0" rtlCol="0" anchor="ctr"/>
          <a:lstStyle/>
          <a:p>
            <a:pPr indent="0" marL="0">
              <a:buNone/>
            </a:pPr>
            <a:r>
              <a:rPr lang="en-US" sz="1300" b="1" dirty="0">
                <a:solidFill>
                  <a:srgbClr val="FF4438"/>
                </a:solidFill>
                <a:latin typeface="Courier New" pitchFamily="34" charset="0"/>
                <a:ea typeface="Courier New" pitchFamily="34" charset="-122"/>
                <a:cs typeface="Courier New" pitchFamily="34" charset="-120"/>
              </a:rPr>
              <a:t>PUBLISH · SUBSCRIBE</a:t>
            </a:r>
            <a:endParaRPr lang="en-US" sz="1300" dirty="0"/>
          </a:p>
        </p:txBody>
      </p:sp>
      <p:sp>
        <p:nvSpPr>
          <p:cNvPr id="18" name="Text 16"/>
          <p:cNvSpPr/>
          <p:nvPr/>
        </p:nvSpPr>
        <p:spPr>
          <a:xfrm>
            <a:off x="987552" y="5212080"/>
            <a:ext cx="4590288" cy="502920"/>
          </a:xfrm>
          <a:prstGeom prst="rect">
            <a:avLst/>
          </a:prstGeom>
          <a:noFill/>
          <a:ln/>
        </p:spPr>
        <p:txBody>
          <a:bodyPr wrap="square" lIns="0" tIns="0" rIns="0" bIns="0" rtlCol="0" anchor="ctr"/>
          <a:lstStyle/>
          <a:p>
            <a:pPr indent="0" marL="0">
              <a:lnSpc>
                <a:spcPts val="1500"/>
              </a:lnSpc>
              <a:buNone/>
            </a:pPr>
            <a:r>
              <a:rPr lang="en-US" sz="1250" dirty="0">
                <a:solidFill>
                  <a:srgbClr val="5C6B73"/>
                </a:solidFill>
                <a:latin typeface="Calibri" pitchFamily="34" charset="0"/>
                <a:ea typeface="Calibri" pitchFamily="34" charset="-122"/>
                <a:cs typeface="Calibri" pitchFamily="34" charset="-120"/>
              </a:rPr>
              <a:t>Push every new sample to real-time consumers.</a:t>
            </a:r>
            <a:endParaRPr lang="en-US" sz="1250" dirty="0"/>
          </a:p>
        </p:txBody>
      </p:sp>
      <p:sp>
        <p:nvSpPr>
          <p:cNvPr id="19" name="Shape 17"/>
          <p:cNvSpPr/>
          <p:nvPr/>
        </p:nvSpPr>
        <p:spPr>
          <a:xfrm>
            <a:off x="6272784" y="3977640"/>
            <a:ext cx="5276088" cy="1920240"/>
          </a:xfrm>
          <a:prstGeom prst="roundRect">
            <a:avLst>
              <a:gd name="adj" fmla="val 3810"/>
            </a:avLst>
          </a:prstGeom>
          <a:solidFill>
            <a:srgbClr val="FFFFFF"/>
          </a:solidFill>
          <a:ln w="12700">
            <a:solidFill>
              <a:srgbClr val="D8E0E3"/>
            </a:solidFill>
            <a:prstDash val="solid"/>
          </a:ln>
          <a:effectLst>
            <a:outerShdw sx="100000" sy="100000" kx="0" ky="0" algn="bl" rotWithShape="0" blurRad="76200" dist="38100" dir="5400000">
              <a:srgbClr val="9AA7AD">
                <a:alpha val="35000"/>
              </a:srgbClr>
            </a:outerShdw>
          </a:effectLst>
        </p:spPr>
      </p:sp>
      <p:sp>
        <p:nvSpPr>
          <p:cNvPr id="20" name="Shape 18"/>
          <p:cNvSpPr/>
          <p:nvPr/>
        </p:nvSpPr>
        <p:spPr>
          <a:xfrm>
            <a:off x="6592824" y="4270248"/>
            <a:ext cx="457200" cy="457200"/>
          </a:xfrm>
          <a:prstGeom prst="roundRect">
            <a:avLst>
              <a:gd name="adj" fmla="val 20000"/>
            </a:avLst>
          </a:prstGeom>
          <a:solidFill>
            <a:srgbClr val="FF4438"/>
          </a:solidFill>
          <a:ln/>
        </p:spPr>
      </p:sp>
      <p:sp>
        <p:nvSpPr>
          <p:cNvPr id="21" name="Text 19"/>
          <p:cNvSpPr/>
          <p:nvPr/>
        </p:nvSpPr>
        <p:spPr>
          <a:xfrm>
            <a:off x="7232904" y="4251960"/>
            <a:ext cx="4087368" cy="502920"/>
          </a:xfrm>
          <a:prstGeom prst="rect">
            <a:avLst/>
          </a:prstGeom>
          <a:noFill/>
          <a:ln/>
        </p:spPr>
        <p:txBody>
          <a:bodyPr wrap="square" lIns="0" tIns="0" rIns="0" bIns="0" rtlCol="0" anchor="ctr"/>
          <a:lstStyle/>
          <a:p>
            <a:pPr indent="0" marL="0">
              <a:buNone/>
            </a:pPr>
            <a:r>
              <a:rPr lang="en-US" sz="1700" b="1" dirty="0">
                <a:solidFill>
                  <a:srgbClr val="163341"/>
                </a:solidFill>
                <a:latin typeface="Calibri" pitchFamily="34" charset="0"/>
                <a:ea typeface="Calibri" pitchFamily="34" charset="-122"/>
                <a:cs typeface="Calibri" pitchFamily="34" charset="-120"/>
              </a:rPr>
              <a:t>RedisInsight + MONITOR</a:t>
            </a:r>
            <a:endParaRPr lang="en-US" sz="1700" dirty="0"/>
          </a:p>
        </p:txBody>
      </p:sp>
      <p:sp>
        <p:nvSpPr>
          <p:cNvPr id="22" name="Text 20"/>
          <p:cNvSpPr/>
          <p:nvPr/>
        </p:nvSpPr>
        <p:spPr>
          <a:xfrm>
            <a:off x="6620256" y="4873752"/>
            <a:ext cx="4590288" cy="320040"/>
          </a:xfrm>
          <a:prstGeom prst="rect">
            <a:avLst/>
          </a:prstGeom>
          <a:noFill/>
          <a:ln/>
        </p:spPr>
        <p:txBody>
          <a:bodyPr wrap="square" lIns="0" tIns="0" rIns="0" bIns="0" rtlCol="0" anchor="ctr"/>
          <a:lstStyle/>
          <a:p>
            <a:pPr indent="0" marL="0">
              <a:buNone/>
            </a:pPr>
            <a:r>
              <a:rPr lang="en-US" sz="1300" b="1" dirty="0">
                <a:solidFill>
                  <a:srgbClr val="FF4438"/>
                </a:solidFill>
                <a:latin typeface="Courier New" pitchFamily="34" charset="0"/>
                <a:ea typeface="Courier New" pitchFamily="34" charset="-122"/>
                <a:cs typeface="Courier New" pitchFamily="34" charset="-120"/>
              </a:rPr>
              <a:t>MONITOR / Profiler</a:t>
            </a:r>
            <a:endParaRPr lang="en-US" sz="1300" dirty="0"/>
          </a:p>
        </p:txBody>
      </p:sp>
      <p:sp>
        <p:nvSpPr>
          <p:cNvPr id="23" name="Text 21"/>
          <p:cNvSpPr/>
          <p:nvPr/>
        </p:nvSpPr>
        <p:spPr>
          <a:xfrm>
            <a:off x="6620256" y="5212080"/>
            <a:ext cx="4590288" cy="502920"/>
          </a:xfrm>
          <a:prstGeom prst="rect">
            <a:avLst/>
          </a:prstGeom>
          <a:noFill/>
          <a:ln/>
        </p:spPr>
        <p:txBody>
          <a:bodyPr wrap="square" lIns="0" tIns="0" rIns="0" bIns="0" rtlCol="0" anchor="ctr"/>
          <a:lstStyle/>
          <a:p>
            <a:pPr indent="0" marL="0">
              <a:lnSpc>
                <a:spcPts val="1500"/>
              </a:lnSpc>
              <a:buNone/>
            </a:pPr>
            <a:r>
              <a:rPr lang="en-US" sz="1250" dirty="0">
                <a:solidFill>
                  <a:srgbClr val="5C6B73"/>
                </a:solidFill>
                <a:latin typeface="Calibri" pitchFamily="34" charset="0"/>
                <a:ea typeface="Calibri" pitchFamily="34" charset="-122"/>
                <a:cs typeface="Calibri" pitchFamily="34" charset="-120"/>
              </a:rPr>
              <a:t>Visualize series; watch every command execute live.</a:t>
            </a:r>
            <a:endParaRPr lang="en-US" sz="1250" dirty="0"/>
          </a:p>
        </p:txBody>
      </p:sp>
      <p:sp>
        <p:nvSpPr>
          <p:cNvPr id="24" name="Text 22"/>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5C6B73"/>
                </a:solidFill>
                <a:latin typeface="Calibri" pitchFamily="34" charset="0"/>
                <a:ea typeface="Calibri" pitchFamily="34" charset="-122"/>
                <a:cs typeface="Calibri" pitchFamily="34" charset="-120"/>
              </a:rPr>
              <a:t>github.com/amitmknit/aveva-pi-redis-integration</a:t>
            </a:r>
            <a:endParaRPr lang="en-US" sz="900" dirty="0"/>
          </a:p>
        </p:txBody>
      </p:sp>
      <p:sp>
        <p:nvSpPr>
          <p:cNvPr id="25" name="Text 23"/>
          <p:cNvSpPr/>
          <p:nvPr/>
        </p:nvSpPr>
        <p:spPr>
          <a:xfrm>
            <a:off x="8028432" y="6473952"/>
            <a:ext cx="3657600" cy="274320"/>
          </a:xfrm>
          <a:prstGeom prst="rect">
            <a:avLst/>
          </a:prstGeom>
          <a:noFill/>
          <a:ln/>
        </p:spPr>
        <p:txBody>
          <a:bodyPr wrap="square" lIns="0" tIns="0" rIns="0" bIns="0" rtlCol="0" anchor="ctr"/>
          <a:lstStyle/>
          <a:p>
            <a:pPr algn="r" indent="0" marL="0">
              <a:buNone/>
            </a:pPr>
            <a:r>
              <a:rPr lang="en-US" sz="900" dirty="0">
                <a:solidFill>
                  <a:srgbClr val="5C6B73"/>
                </a:solidFill>
                <a:latin typeface="Calibri" pitchFamily="34" charset="0"/>
                <a:ea typeface="Calibri" pitchFamily="34" charset="-122"/>
                <a:cs typeface="Calibri" pitchFamily="34" charset="-120"/>
              </a:rPr>
              <a:t>Redis  ·  Proof of Concept</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9"/>
        </a:solidFill>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indent="0" marL="0">
              <a:buNone/>
            </a:pPr>
            <a:r>
              <a:rPr lang="en-US" sz="1200" b="1" spc="300" kern="0" dirty="0">
                <a:solidFill>
                  <a:srgbClr val="FF4438"/>
                </a:solidFill>
                <a:latin typeface="Calibri" pitchFamily="34" charset="0"/>
                <a:ea typeface="Calibri" pitchFamily="34" charset="-122"/>
                <a:cs typeface="Calibri" pitchFamily="34" charset="-120"/>
              </a:rPr>
              <a:t>WHAT'S BUILT</a:t>
            </a:r>
            <a:endParaRPr lang="en-US" sz="1200" dirty="0"/>
          </a:p>
        </p:txBody>
      </p:sp>
      <p:sp>
        <p:nvSpPr>
          <p:cNvPr id="3" name="Text 1"/>
          <p:cNvSpPr/>
          <p:nvPr/>
        </p:nvSpPr>
        <p:spPr>
          <a:xfrm>
            <a:off x="640080" y="822960"/>
            <a:ext cx="10515600" cy="640080"/>
          </a:xfrm>
          <a:prstGeom prst="rect">
            <a:avLst/>
          </a:prstGeom>
          <a:noFill/>
          <a:ln/>
        </p:spPr>
        <p:txBody>
          <a:bodyPr wrap="square" lIns="0" tIns="0" rIns="0" bIns="0" rtlCol="0" anchor="ctr"/>
          <a:lstStyle/>
          <a:p>
            <a:pPr indent="0" marL="0">
              <a:buNone/>
            </a:pPr>
            <a:r>
              <a:rPr lang="en-US" sz="3200" b="1" dirty="0">
                <a:solidFill>
                  <a:srgbClr val="163341"/>
                </a:solidFill>
                <a:latin typeface="Cambria" pitchFamily="34" charset="0"/>
                <a:ea typeface="Cambria" pitchFamily="34" charset="-122"/>
                <a:cs typeface="Cambria" pitchFamily="34" charset="-120"/>
              </a:rPr>
              <a:t>Production-shaped, not just a script</a:t>
            </a:r>
            <a:endParaRPr lang="en-US" sz="3200" dirty="0"/>
          </a:p>
        </p:txBody>
      </p:sp>
      <p:sp>
        <p:nvSpPr>
          <p:cNvPr id="4" name="Shape 2"/>
          <p:cNvSpPr/>
          <p:nvPr/>
        </p:nvSpPr>
        <p:spPr>
          <a:xfrm>
            <a:off x="640080" y="1874520"/>
            <a:ext cx="10908792" cy="1024128"/>
          </a:xfrm>
          <a:prstGeom prst="roundRect">
            <a:avLst>
              <a:gd name="adj" fmla="val 7143"/>
            </a:avLst>
          </a:prstGeom>
          <a:solidFill>
            <a:srgbClr val="FFFFFF"/>
          </a:solidFill>
          <a:ln w="12700">
            <a:solidFill>
              <a:srgbClr val="D8E0E3"/>
            </a:solidFill>
            <a:prstDash val="solid"/>
          </a:ln>
          <a:effectLst>
            <a:outerShdw sx="100000" sy="100000" kx="0" ky="0" algn="bl" rotWithShape="0" blurRad="76200" dist="38100" dir="5400000">
              <a:srgbClr val="9AA7AD">
                <a:alpha val="35000"/>
              </a:srgbClr>
            </a:outerShdw>
          </a:effectLst>
        </p:spPr>
      </p:sp>
      <p:sp>
        <p:nvSpPr>
          <p:cNvPr id="5" name="Shape 3"/>
          <p:cNvSpPr/>
          <p:nvPr/>
        </p:nvSpPr>
        <p:spPr>
          <a:xfrm>
            <a:off x="896112" y="2130552"/>
            <a:ext cx="512064" cy="512064"/>
          </a:xfrm>
          <a:prstGeom prst="ellipse">
            <a:avLst/>
          </a:prstGeom>
          <a:solidFill>
            <a:srgbClr val="FF4438"/>
          </a:solidFill>
          <a:ln/>
        </p:spPr>
      </p:sp>
      <p:sp>
        <p:nvSpPr>
          <p:cNvPr id="6" name="Text 4"/>
          <p:cNvSpPr/>
          <p:nvPr/>
        </p:nvSpPr>
        <p:spPr>
          <a:xfrm>
            <a:off x="896112" y="2130552"/>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1645920" y="2039112"/>
            <a:ext cx="4114800" cy="685800"/>
          </a:xfrm>
          <a:prstGeom prst="rect">
            <a:avLst/>
          </a:prstGeom>
          <a:noFill/>
          <a:ln/>
        </p:spPr>
        <p:txBody>
          <a:bodyPr wrap="square" lIns="0" tIns="0" rIns="0" bIns="0" rtlCol="0" anchor="ctr"/>
          <a:lstStyle/>
          <a:p>
            <a:pPr indent="0" marL="0">
              <a:buNone/>
            </a:pPr>
            <a:r>
              <a:rPr lang="en-US" sz="1700" b="1" dirty="0">
                <a:solidFill>
                  <a:srgbClr val="163341"/>
                </a:solidFill>
                <a:latin typeface="Calibri" pitchFamily="34" charset="0"/>
                <a:ea typeface="Calibri" pitchFamily="34" charset="-122"/>
                <a:cs typeface="Calibri" pitchFamily="34" charset="-120"/>
              </a:rPr>
              <a:t>Recorded-value backfill</a:t>
            </a:r>
            <a:endParaRPr lang="en-US" sz="1700" dirty="0"/>
          </a:p>
        </p:txBody>
      </p:sp>
      <p:sp>
        <p:nvSpPr>
          <p:cNvPr id="8" name="Text 6"/>
          <p:cNvSpPr/>
          <p:nvPr/>
        </p:nvSpPr>
        <p:spPr>
          <a:xfrm>
            <a:off x="5852160" y="2039112"/>
            <a:ext cx="5486400" cy="713232"/>
          </a:xfrm>
          <a:prstGeom prst="rect">
            <a:avLst/>
          </a:prstGeom>
          <a:noFill/>
          <a:ln/>
        </p:spPr>
        <p:txBody>
          <a:bodyPr wrap="square" lIns="0" tIns="0" rIns="0" bIns="0" rtlCol="0" anchor="ctr"/>
          <a:lstStyle/>
          <a:p>
            <a:pPr indent="0" marL="0">
              <a:lnSpc>
                <a:spcPts val="1600"/>
              </a:lnSpc>
              <a:buNone/>
            </a:pPr>
            <a:r>
              <a:rPr lang="en-US" sz="1300" dirty="0">
                <a:solidFill>
                  <a:srgbClr val="5C6B73"/>
                </a:solidFill>
                <a:latin typeface="Calibri" pitchFamily="34" charset="0"/>
                <a:ea typeface="Calibri" pitchFamily="34" charset="-122"/>
                <a:cs typeface="Calibri" pitchFamily="34" charset="-120"/>
              </a:rPr>
              <a:t>Reads archived values, not just the current sample — nothing between polls is lost.</a:t>
            </a:r>
            <a:endParaRPr lang="en-US" sz="1300" dirty="0"/>
          </a:p>
        </p:txBody>
      </p:sp>
      <p:sp>
        <p:nvSpPr>
          <p:cNvPr id="9" name="Shape 7"/>
          <p:cNvSpPr/>
          <p:nvPr/>
        </p:nvSpPr>
        <p:spPr>
          <a:xfrm>
            <a:off x="640080" y="3026664"/>
            <a:ext cx="10908792" cy="1024128"/>
          </a:xfrm>
          <a:prstGeom prst="roundRect">
            <a:avLst>
              <a:gd name="adj" fmla="val 7143"/>
            </a:avLst>
          </a:prstGeom>
          <a:solidFill>
            <a:srgbClr val="FFFFFF"/>
          </a:solidFill>
          <a:ln w="12700">
            <a:solidFill>
              <a:srgbClr val="D8E0E3"/>
            </a:solidFill>
            <a:prstDash val="solid"/>
          </a:ln>
          <a:effectLst>
            <a:outerShdw sx="100000" sy="100000" kx="0" ky="0" algn="bl" rotWithShape="0" blurRad="76200" dist="38100" dir="5400000">
              <a:srgbClr val="9AA7AD">
                <a:alpha val="35000"/>
              </a:srgbClr>
            </a:outerShdw>
          </a:effectLst>
        </p:spPr>
      </p:sp>
      <p:sp>
        <p:nvSpPr>
          <p:cNvPr id="10" name="Shape 8"/>
          <p:cNvSpPr/>
          <p:nvPr/>
        </p:nvSpPr>
        <p:spPr>
          <a:xfrm>
            <a:off x="896112" y="3282696"/>
            <a:ext cx="512064" cy="512064"/>
          </a:xfrm>
          <a:prstGeom prst="ellipse">
            <a:avLst/>
          </a:prstGeom>
          <a:solidFill>
            <a:srgbClr val="FF4438"/>
          </a:solidFill>
          <a:ln/>
        </p:spPr>
      </p:sp>
      <p:sp>
        <p:nvSpPr>
          <p:cNvPr id="11" name="Text 9"/>
          <p:cNvSpPr/>
          <p:nvPr/>
        </p:nvSpPr>
        <p:spPr>
          <a:xfrm>
            <a:off x="896112" y="3282696"/>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2" name="Text 10"/>
          <p:cNvSpPr/>
          <p:nvPr/>
        </p:nvSpPr>
        <p:spPr>
          <a:xfrm>
            <a:off x="1645920" y="3191256"/>
            <a:ext cx="4114800" cy="685800"/>
          </a:xfrm>
          <a:prstGeom prst="rect">
            <a:avLst/>
          </a:prstGeom>
          <a:noFill/>
          <a:ln/>
        </p:spPr>
        <p:txBody>
          <a:bodyPr wrap="square" lIns="0" tIns="0" rIns="0" bIns="0" rtlCol="0" anchor="ctr"/>
          <a:lstStyle/>
          <a:p>
            <a:pPr indent="0" marL="0">
              <a:buNone/>
            </a:pPr>
            <a:r>
              <a:rPr lang="en-US" sz="1700" b="1" dirty="0">
                <a:solidFill>
                  <a:srgbClr val="163341"/>
                </a:solidFill>
                <a:latin typeface="Calibri" pitchFamily="34" charset="0"/>
                <a:ea typeface="Calibri" pitchFamily="34" charset="-122"/>
                <a:cs typeface="Calibri" pitchFamily="34" charset="-120"/>
              </a:rPr>
              <a:t>Streamset batching</a:t>
            </a:r>
            <a:endParaRPr lang="en-US" sz="1700" dirty="0"/>
          </a:p>
        </p:txBody>
      </p:sp>
      <p:sp>
        <p:nvSpPr>
          <p:cNvPr id="13" name="Text 11"/>
          <p:cNvSpPr/>
          <p:nvPr/>
        </p:nvSpPr>
        <p:spPr>
          <a:xfrm>
            <a:off x="5852160" y="3191256"/>
            <a:ext cx="5486400" cy="713232"/>
          </a:xfrm>
          <a:prstGeom prst="rect">
            <a:avLst/>
          </a:prstGeom>
          <a:noFill/>
          <a:ln/>
        </p:spPr>
        <p:txBody>
          <a:bodyPr wrap="square" lIns="0" tIns="0" rIns="0" bIns="0" rtlCol="0" anchor="ctr"/>
          <a:lstStyle/>
          <a:p>
            <a:pPr indent="0" marL="0">
              <a:lnSpc>
                <a:spcPts val="1600"/>
              </a:lnSpc>
              <a:buNone/>
            </a:pPr>
            <a:r>
              <a:rPr lang="en-US" sz="1300" dirty="0">
                <a:solidFill>
                  <a:srgbClr val="5C6B73"/>
                </a:solidFill>
                <a:latin typeface="Calibri" pitchFamily="34" charset="0"/>
                <a:ea typeface="Calibri" pitchFamily="34" charset="-122"/>
                <a:cs typeface="Calibri" pitchFamily="34" charset="-120"/>
              </a:rPr>
              <a:t>All tags fetched in a single PI Web API request per cycle, not one call per tag.</a:t>
            </a:r>
            <a:endParaRPr lang="en-US" sz="1300" dirty="0"/>
          </a:p>
        </p:txBody>
      </p:sp>
      <p:sp>
        <p:nvSpPr>
          <p:cNvPr id="14" name="Shape 12"/>
          <p:cNvSpPr/>
          <p:nvPr/>
        </p:nvSpPr>
        <p:spPr>
          <a:xfrm>
            <a:off x="640080" y="4178808"/>
            <a:ext cx="10908792" cy="1024128"/>
          </a:xfrm>
          <a:prstGeom prst="roundRect">
            <a:avLst>
              <a:gd name="adj" fmla="val 7143"/>
            </a:avLst>
          </a:prstGeom>
          <a:solidFill>
            <a:srgbClr val="FFFFFF"/>
          </a:solidFill>
          <a:ln w="12700">
            <a:solidFill>
              <a:srgbClr val="D8E0E3"/>
            </a:solidFill>
            <a:prstDash val="solid"/>
          </a:ln>
          <a:effectLst>
            <a:outerShdw sx="100000" sy="100000" kx="0" ky="0" algn="bl" rotWithShape="0" blurRad="76200" dist="38100" dir="5400000">
              <a:srgbClr val="9AA7AD">
                <a:alpha val="35000"/>
              </a:srgbClr>
            </a:outerShdw>
          </a:effectLst>
        </p:spPr>
      </p:sp>
      <p:sp>
        <p:nvSpPr>
          <p:cNvPr id="15" name="Shape 13"/>
          <p:cNvSpPr/>
          <p:nvPr/>
        </p:nvSpPr>
        <p:spPr>
          <a:xfrm>
            <a:off x="896112" y="4434840"/>
            <a:ext cx="512064" cy="512064"/>
          </a:xfrm>
          <a:prstGeom prst="ellipse">
            <a:avLst/>
          </a:prstGeom>
          <a:solidFill>
            <a:srgbClr val="FF4438"/>
          </a:solidFill>
          <a:ln/>
        </p:spPr>
      </p:sp>
      <p:sp>
        <p:nvSpPr>
          <p:cNvPr id="16" name="Text 14"/>
          <p:cNvSpPr/>
          <p:nvPr/>
        </p:nvSpPr>
        <p:spPr>
          <a:xfrm>
            <a:off x="896112" y="4434840"/>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7" name="Text 15"/>
          <p:cNvSpPr/>
          <p:nvPr/>
        </p:nvSpPr>
        <p:spPr>
          <a:xfrm>
            <a:off x="1645920" y="4343400"/>
            <a:ext cx="4114800" cy="685800"/>
          </a:xfrm>
          <a:prstGeom prst="rect">
            <a:avLst/>
          </a:prstGeom>
          <a:noFill/>
          <a:ln/>
        </p:spPr>
        <p:txBody>
          <a:bodyPr wrap="square" lIns="0" tIns="0" rIns="0" bIns="0" rtlCol="0" anchor="ctr"/>
          <a:lstStyle/>
          <a:p>
            <a:pPr indent="0" marL="0">
              <a:buNone/>
            </a:pPr>
            <a:r>
              <a:rPr lang="en-US" sz="1700" b="1" dirty="0">
                <a:solidFill>
                  <a:srgbClr val="163341"/>
                </a:solidFill>
                <a:latin typeface="Calibri" pitchFamily="34" charset="0"/>
                <a:ea typeface="Calibri" pitchFamily="34" charset="-122"/>
                <a:cs typeface="Calibri" pitchFamily="34" charset="-120"/>
              </a:rPr>
              <a:t>Checkpoints &amp; gap recovery</a:t>
            </a:r>
            <a:endParaRPr lang="en-US" sz="1700" dirty="0"/>
          </a:p>
        </p:txBody>
      </p:sp>
      <p:sp>
        <p:nvSpPr>
          <p:cNvPr id="18" name="Text 16"/>
          <p:cNvSpPr/>
          <p:nvPr/>
        </p:nvSpPr>
        <p:spPr>
          <a:xfrm>
            <a:off x="5852160" y="4343400"/>
            <a:ext cx="5486400" cy="713232"/>
          </a:xfrm>
          <a:prstGeom prst="rect">
            <a:avLst/>
          </a:prstGeom>
          <a:noFill/>
          <a:ln/>
        </p:spPr>
        <p:txBody>
          <a:bodyPr wrap="square" lIns="0" tIns="0" rIns="0" bIns="0" rtlCol="0" anchor="ctr"/>
          <a:lstStyle/>
          <a:p>
            <a:pPr indent="0" marL="0">
              <a:lnSpc>
                <a:spcPts val="1600"/>
              </a:lnSpc>
              <a:buNone/>
            </a:pPr>
            <a:r>
              <a:rPr lang="en-US" sz="1300" dirty="0">
                <a:solidFill>
                  <a:srgbClr val="5C6B73"/>
                </a:solidFill>
                <a:latin typeface="Calibri" pitchFamily="34" charset="0"/>
                <a:ea typeface="Calibri" pitchFamily="34" charset="-122"/>
                <a:cs typeface="Calibri" pitchFamily="34" charset="-120"/>
              </a:rPr>
              <a:t>Per-tag last-seen timestamp in Redis; restarts resume and backfill with zero duplicates.</a:t>
            </a:r>
            <a:endParaRPr lang="en-US" sz="1300" dirty="0"/>
          </a:p>
        </p:txBody>
      </p:sp>
      <p:sp>
        <p:nvSpPr>
          <p:cNvPr id="19" name="Shape 17"/>
          <p:cNvSpPr/>
          <p:nvPr/>
        </p:nvSpPr>
        <p:spPr>
          <a:xfrm>
            <a:off x="640080" y="5330952"/>
            <a:ext cx="10908792" cy="1024128"/>
          </a:xfrm>
          <a:prstGeom prst="roundRect">
            <a:avLst>
              <a:gd name="adj" fmla="val 7143"/>
            </a:avLst>
          </a:prstGeom>
          <a:solidFill>
            <a:srgbClr val="FFFFFF"/>
          </a:solidFill>
          <a:ln w="12700">
            <a:solidFill>
              <a:srgbClr val="D8E0E3"/>
            </a:solidFill>
            <a:prstDash val="solid"/>
          </a:ln>
          <a:effectLst>
            <a:outerShdw sx="100000" sy="100000" kx="0" ky="0" algn="bl" rotWithShape="0" blurRad="76200" dist="38100" dir="5400000">
              <a:srgbClr val="9AA7AD">
                <a:alpha val="35000"/>
              </a:srgbClr>
            </a:outerShdw>
          </a:effectLst>
        </p:spPr>
      </p:sp>
      <p:sp>
        <p:nvSpPr>
          <p:cNvPr id="20" name="Shape 18"/>
          <p:cNvSpPr/>
          <p:nvPr/>
        </p:nvSpPr>
        <p:spPr>
          <a:xfrm>
            <a:off x="896112" y="5586984"/>
            <a:ext cx="512064" cy="512064"/>
          </a:xfrm>
          <a:prstGeom prst="ellipse">
            <a:avLst/>
          </a:prstGeom>
          <a:solidFill>
            <a:srgbClr val="FF4438"/>
          </a:solidFill>
          <a:ln/>
        </p:spPr>
      </p:sp>
      <p:sp>
        <p:nvSpPr>
          <p:cNvPr id="21" name="Text 19"/>
          <p:cNvSpPr/>
          <p:nvPr/>
        </p:nvSpPr>
        <p:spPr>
          <a:xfrm>
            <a:off x="896112" y="5586984"/>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2" name="Text 20"/>
          <p:cNvSpPr/>
          <p:nvPr/>
        </p:nvSpPr>
        <p:spPr>
          <a:xfrm>
            <a:off x="1645920" y="5495544"/>
            <a:ext cx="4114800" cy="685800"/>
          </a:xfrm>
          <a:prstGeom prst="rect">
            <a:avLst/>
          </a:prstGeom>
          <a:noFill/>
          <a:ln/>
        </p:spPr>
        <p:txBody>
          <a:bodyPr wrap="square" lIns="0" tIns="0" rIns="0" bIns="0" rtlCol="0" anchor="ctr"/>
          <a:lstStyle/>
          <a:p>
            <a:pPr indent="0" marL="0">
              <a:buNone/>
            </a:pPr>
            <a:r>
              <a:rPr lang="en-US" sz="1700" b="1" dirty="0">
                <a:solidFill>
                  <a:srgbClr val="163341"/>
                </a:solidFill>
                <a:latin typeface="Calibri" pitchFamily="34" charset="0"/>
                <a:ea typeface="Calibri" pitchFamily="34" charset="-122"/>
                <a:cs typeface="Calibri" pitchFamily="34" charset="-120"/>
              </a:rPr>
              <a:t>Observability</a:t>
            </a:r>
            <a:endParaRPr lang="en-US" sz="1700" dirty="0"/>
          </a:p>
        </p:txBody>
      </p:sp>
      <p:sp>
        <p:nvSpPr>
          <p:cNvPr id="23" name="Text 21"/>
          <p:cNvSpPr/>
          <p:nvPr/>
        </p:nvSpPr>
        <p:spPr>
          <a:xfrm>
            <a:off x="5852160" y="5495544"/>
            <a:ext cx="5486400" cy="713232"/>
          </a:xfrm>
          <a:prstGeom prst="rect">
            <a:avLst/>
          </a:prstGeom>
          <a:noFill/>
          <a:ln/>
        </p:spPr>
        <p:txBody>
          <a:bodyPr wrap="square" lIns="0" tIns="0" rIns="0" bIns="0" rtlCol="0" anchor="ctr"/>
          <a:lstStyle/>
          <a:p>
            <a:pPr indent="0" marL="0">
              <a:lnSpc>
                <a:spcPts val="1600"/>
              </a:lnSpc>
              <a:buNone/>
            </a:pPr>
            <a:r>
              <a:rPr lang="en-US" sz="1300" dirty="0">
                <a:solidFill>
                  <a:srgbClr val="5C6B73"/>
                </a:solidFill>
                <a:latin typeface="Calibri" pitchFamily="34" charset="0"/>
                <a:ea typeface="Calibri" pitchFamily="34" charset="-122"/>
                <a:cs typeface="Calibri" pitchFamily="34" charset="-120"/>
              </a:rPr>
              <a:t>/healthz endpoint + Prometheus /metrics: samples written, poll errors, liveness.</a:t>
            </a:r>
            <a:endParaRPr lang="en-US" sz="1300" dirty="0"/>
          </a:p>
        </p:txBody>
      </p:sp>
      <p:sp>
        <p:nvSpPr>
          <p:cNvPr id="24" name="Text 22"/>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5C6B73"/>
                </a:solidFill>
                <a:latin typeface="Calibri" pitchFamily="34" charset="0"/>
                <a:ea typeface="Calibri" pitchFamily="34" charset="-122"/>
                <a:cs typeface="Calibri" pitchFamily="34" charset="-120"/>
              </a:rPr>
              <a:t>github.com/amitmknit/aveva-pi-redis-integration</a:t>
            </a:r>
            <a:endParaRPr lang="en-US" sz="900" dirty="0"/>
          </a:p>
        </p:txBody>
      </p:sp>
      <p:sp>
        <p:nvSpPr>
          <p:cNvPr id="25" name="Text 23"/>
          <p:cNvSpPr/>
          <p:nvPr/>
        </p:nvSpPr>
        <p:spPr>
          <a:xfrm>
            <a:off x="8028432" y="6473952"/>
            <a:ext cx="3657600" cy="274320"/>
          </a:xfrm>
          <a:prstGeom prst="rect">
            <a:avLst/>
          </a:prstGeom>
          <a:noFill/>
          <a:ln/>
        </p:spPr>
        <p:txBody>
          <a:bodyPr wrap="square" lIns="0" tIns="0" rIns="0" bIns="0" rtlCol="0" anchor="ctr"/>
          <a:lstStyle/>
          <a:p>
            <a:pPr algn="r" indent="0" marL="0">
              <a:buNone/>
            </a:pPr>
            <a:r>
              <a:rPr lang="en-US" sz="900" dirty="0">
                <a:solidFill>
                  <a:srgbClr val="5C6B73"/>
                </a:solidFill>
                <a:latin typeface="Calibri" pitchFamily="34" charset="0"/>
                <a:ea typeface="Calibri" pitchFamily="34" charset="-122"/>
                <a:cs typeface="Calibri" pitchFamily="34" charset="-120"/>
              </a:rPr>
              <a:t>Redis  ·  Proof of Concept</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91A23"/>
        </a:solidFill>
      </p:bgPr>
    </p:bg>
    <p:spTree>
      <p:nvGrpSpPr>
        <p:cNvPr id="1" name=""/>
        <p:cNvGrpSpPr/>
        <p:nvPr/>
      </p:nvGrpSpPr>
      <p:grpSpPr>
        <a:xfrm>
          <a:off x="0" y="0"/>
          <a:ext cx="0" cy="0"/>
          <a:chOff x="0" y="0"/>
          <a:chExt cx="0" cy="0"/>
        </a:xfrm>
      </p:grpSpPr>
      <p:sp>
        <p:nvSpPr>
          <p:cNvPr id="2" name="Text 0"/>
          <p:cNvSpPr/>
          <p:nvPr/>
        </p:nvSpPr>
        <p:spPr>
          <a:xfrm>
            <a:off x="640080" y="548640"/>
            <a:ext cx="7315200" cy="274320"/>
          </a:xfrm>
          <a:prstGeom prst="rect">
            <a:avLst/>
          </a:prstGeom>
          <a:noFill/>
          <a:ln/>
        </p:spPr>
        <p:txBody>
          <a:bodyPr wrap="square" lIns="0" tIns="0" rIns="0" bIns="0" rtlCol="0" anchor="ctr"/>
          <a:lstStyle/>
          <a:p>
            <a:pPr indent="0" marL="0">
              <a:buNone/>
            </a:pPr>
            <a:r>
              <a:rPr lang="en-US" sz="1200" b="1" spc="300" kern="0" dirty="0">
                <a:solidFill>
                  <a:srgbClr val="FF4438"/>
                </a:solidFill>
                <a:latin typeface="Calibri" pitchFamily="34" charset="0"/>
                <a:ea typeface="Calibri" pitchFamily="34" charset="-122"/>
                <a:cs typeface="Calibri" pitchFamily="34" charset="-120"/>
              </a:rPr>
              <a:t>LIVE DEMO</a:t>
            </a:r>
            <a:endParaRPr lang="en-US" sz="1200" dirty="0"/>
          </a:p>
        </p:txBody>
      </p:sp>
      <p:sp>
        <p:nvSpPr>
          <p:cNvPr id="3" name="Text 1"/>
          <p:cNvSpPr/>
          <p:nvPr/>
        </p:nvSpPr>
        <p:spPr>
          <a:xfrm>
            <a:off x="640080" y="868680"/>
            <a:ext cx="10972800" cy="640080"/>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Four commands, running data in seconds</a:t>
            </a:r>
            <a:endParaRPr lang="en-US" sz="3100" dirty="0"/>
          </a:p>
        </p:txBody>
      </p:sp>
      <p:sp>
        <p:nvSpPr>
          <p:cNvPr id="4" name="Shape 2"/>
          <p:cNvSpPr/>
          <p:nvPr/>
        </p:nvSpPr>
        <p:spPr>
          <a:xfrm>
            <a:off x="640080" y="1737360"/>
            <a:ext cx="10908792" cy="932688"/>
          </a:xfrm>
          <a:prstGeom prst="roundRect">
            <a:avLst>
              <a:gd name="adj" fmla="val 7843"/>
            </a:avLst>
          </a:prstGeom>
          <a:solidFill>
            <a:srgbClr val="163341"/>
          </a:solidFill>
          <a:ln/>
        </p:spPr>
      </p:sp>
      <p:sp>
        <p:nvSpPr>
          <p:cNvPr id="5" name="Text 3"/>
          <p:cNvSpPr/>
          <p:nvPr/>
        </p:nvSpPr>
        <p:spPr>
          <a:xfrm>
            <a:off x="777240" y="1737360"/>
            <a:ext cx="731520" cy="932688"/>
          </a:xfrm>
          <a:prstGeom prst="rect">
            <a:avLst/>
          </a:prstGeom>
          <a:noFill/>
          <a:ln/>
        </p:spPr>
        <p:txBody>
          <a:bodyPr wrap="square" lIns="0" tIns="0" rIns="0" bIns="0" rtlCol="0" anchor="ctr"/>
          <a:lstStyle/>
          <a:p>
            <a:pPr algn="ctr" indent="0" marL="0">
              <a:buNone/>
            </a:pPr>
            <a:r>
              <a:rPr lang="en-US" sz="3800" b="1" dirty="0">
                <a:solidFill>
                  <a:srgbClr val="FF4438"/>
                </a:solidFill>
                <a:latin typeface="Cambria" pitchFamily="34" charset="0"/>
                <a:ea typeface="Cambria" pitchFamily="34" charset="-122"/>
                <a:cs typeface="Cambria" pitchFamily="34" charset="-120"/>
              </a:rPr>
              <a:t>1</a:t>
            </a:r>
            <a:endParaRPr lang="en-US" sz="3800" dirty="0"/>
          </a:p>
        </p:txBody>
      </p:sp>
      <p:sp>
        <p:nvSpPr>
          <p:cNvPr id="6" name="Text 4"/>
          <p:cNvSpPr/>
          <p:nvPr/>
        </p:nvSpPr>
        <p:spPr>
          <a:xfrm>
            <a:off x="1691640" y="1856232"/>
            <a:ext cx="4023360" cy="38404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Start the whole stack</a:t>
            </a:r>
            <a:endParaRPr lang="en-US" sz="1600" dirty="0"/>
          </a:p>
        </p:txBody>
      </p:sp>
      <p:sp>
        <p:nvSpPr>
          <p:cNvPr id="7" name="Text 5"/>
          <p:cNvSpPr/>
          <p:nvPr/>
        </p:nvSpPr>
        <p:spPr>
          <a:xfrm>
            <a:off x="1691640" y="2240280"/>
            <a:ext cx="5120640" cy="347472"/>
          </a:xfrm>
          <a:prstGeom prst="rect">
            <a:avLst/>
          </a:prstGeom>
          <a:noFill/>
          <a:ln/>
        </p:spPr>
        <p:txBody>
          <a:bodyPr wrap="square" lIns="0" tIns="0" rIns="0" bIns="0" rtlCol="0" anchor="ctr"/>
          <a:lstStyle/>
          <a:p>
            <a:pPr indent="0" marL="0">
              <a:buNone/>
            </a:pPr>
            <a:r>
              <a:rPr lang="en-US" sz="1200" dirty="0">
                <a:solidFill>
                  <a:srgbClr val="8FE3C7"/>
                </a:solidFill>
                <a:latin typeface="Courier New" pitchFamily="34" charset="0"/>
                <a:ea typeface="Courier New" pitchFamily="34" charset="-122"/>
                <a:cs typeface="Courier New" pitchFamily="34" charset="-120"/>
              </a:rPr>
              <a:t>docker compose up --build</a:t>
            </a:r>
            <a:endParaRPr lang="en-US" sz="1200" dirty="0"/>
          </a:p>
        </p:txBody>
      </p:sp>
      <p:sp>
        <p:nvSpPr>
          <p:cNvPr id="8" name="Text 6"/>
          <p:cNvSpPr/>
          <p:nvPr/>
        </p:nvSpPr>
        <p:spPr>
          <a:xfrm>
            <a:off x="7040880" y="1856232"/>
            <a:ext cx="4343400" cy="713232"/>
          </a:xfrm>
          <a:prstGeom prst="rect">
            <a:avLst/>
          </a:prstGeom>
          <a:noFill/>
          <a:ln/>
        </p:spPr>
        <p:txBody>
          <a:bodyPr wrap="square" lIns="0" tIns="0" rIns="0" bIns="0" rtlCol="0" anchor="ctr"/>
          <a:lstStyle/>
          <a:p>
            <a:pPr indent="0" marL="0">
              <a:lnSpc>
                <a:spcPts val="1500"/>
              </a:lnSpc>
              <a:buNone/>
            </a:pPr>
            <a:r>
              <a:rPr lang="en-US" sz="1200" dirty="0">
                <a:solidFill>
                  <a:srgbClr val="C6D2D7"/>
                </a:solidFill>
                <a:latin typeface="Calibri" pitchFamily="34" charset="0"/>
                <a:ea typeface="Calibri" pitchFamily="34" charset="-122"/>
                <a:cs typeface="Calibri" pitchFamily="34" charset="-120"/>
              </a:rPr>
              <a:t>Redis Stack + mock PI Web API + the integration service.</a:t>
            </a:r>
            <a:endParaRPr lang="en-US" sz="1200" dirty="0"/>
          </a:p>
        </p:txBody>
      </p:sp>
      <p:sp>
        <p:nvSpPr>
          <p:cNvPr id="9" name="Shape 7"/>
          <p:cNvSpPr/>
          <p:nvPr/>
        </p:nvSpPr>
        <p:spPr>
          <a:xfrm>
            <a:off x="640080" y="2779776"/>
            <a:ext cx="10908792" cy="932688"/>
          </a:xfrm>
          <a:prstGeom prst="roundRect">
            <a:avLst>
              <a:gd name="adj" fmla="val 7843"/>
            </a:avLst>
          </a:prstGeom>
          <a:solidFill>
            <a:srgbClr val="163341"/>
          </a:solidFill>
          <a:ln/>
        </p:spPr>
      </p:sp>
      <p:sp>
        <p:nvSpPr>
          <p:cNvPr id="10" name="Text 8"/>
          <p:cNvSpPr/>
          <p:nvPr/>
        </p:nvSpPr>
        <p:spPr>
          <a:xfrm>
            <a:off x="777240" y="2779776"/>
            <a:ext cx="731520" cy="932688"/>
          </a:xfrm>
          <a:prstGeom prst="rect">
            <a:avLst/>
          </a:prstGeom>
          <a:noFill/>
          <a:ln/>
        </p:spPr>
        <p:txBody>
          <a:bodyPr wrap="square" lIns="0" tIns="0" rIns="0" bIns="0" rtlCol="0" anchor="ctr"/>
          <a:lstStyle/>
          <a:p>
            <a:pPr algn="ctr" indent="0" marL="0">
              <a:buNone/>
            </a:pPr>
            <a:r>
              <a:rPr lang="en-US" sz="3800" b="1" dirty="0">
                <a:solidFill>
                  <a:srgbClr val="FF4438"/>
                </a:solidFill>
                <a:latin typeface="Cambria" pitchFamily="34" charset="0"/>
                <a:ea typeface="Cambria" pitchFamily="34" charset="-122"/>
                <a:cs typeface="Cambria" pitchFamily="34" charset="-120"/>
              </a:rPr>
              <a:t>2</a:t>
            </a:r>
            <a:endParaRPr lang="en-US" sz="3800" dirty="0"/>
          </a:p>
        </p:txBody>
      </p:sp>
      <p:sp>
        <p:nvSpPr>
          <p:cNvPr id="11" name="Text 9"/>
          <p:cNvSpPr/>
          <p:nvPr/>
        </p:nvSpPr>
        <p:spPr>
          <a:xfrm>
            <a:off x="1691640" y="2898648"/>
            <a:ext cx="4023360" cy="38404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See data landing</a:t>
            </a:r>
            <a:endParaRPr lang="en-US" sz="1600" dirty="0"/>
          </a:p>
        </p:txBody>
      </p:sp>
      <p:sp>
        <p:nvSpPr>
          <p:cNvPr id="12" name="Text 10"/>
          <p:cNvSpPr/>
          <p:nvPr/>
        </p:nvSpPr>
        <p:spPr>
          <a:xfrm>
            <a:off x="1691640" y="3282696"/>
            <a:ext cx="5120640" cy="347472"/>
          </a:xfrm>
          <a:prstGeom prst="rect">
            <a:avLst/>
          </a:prstGeom>
          <a:noFill/>
          <a:ln/>
        </p:spPr>
        <p:txBody>
          <a:bodyPr wrap="square" lIns="0" tIns="0" rIns="0" bIns="0" rtlCol="0" anchor="ctr"/>
          <a:lstStyle/>
          <a:p>
            <a:pPr indent="0" marL="0">
              <a:buNone/>
            </a:pPr>
            <a:r>
              <a:rPr lang="en-US" sz="1200" dirty="0">
                <a:solidFill>
                  <a:srgbClr val="8FE3C7"/>
                </a:solidFill>
                <a:latin typeface="Courier New" pitchFamily="34" charset="0"/>
                <a:ea typeface="Courier New" pitchFamily="34" charset="-122"/>
                <a:cs typeface="Courier New" pitchFamily="34" charset="-120"/>
              </a:rPr>
              <a:t>redis-cli TS.RANGE pi:ts:Sinusoid - + COUNT 5</a:t>
            </a:r>
            <a:endParaRPr lang="en-US" sz="1200" dirty="0"/>
          </a:p>
        </p:txBody>
      </p:sp>
      <p:sp>
        <p:nvSpPr>
          <p:cNvPr id="13" name="Text 11"/>
          <p:cNvSpPr/>
          <p:nvPr/>
        </p:nvSpPr>
        <p:spPr>
          <a:xfrm>
            <a:off x="7040880" y="2898648"/>
            <a:ext cx="4343400" cy="713232"/>
          </a:xfrm>
          <a:prstGeom prst="rect">
            <a:avLst/>
          </a:prstGeom>
          <a:noFill/>
          <a:ln/>
        </p:spPr>
        <p:txBody>
          <a:bodyPr wrap="square" lIns="0" tIns="0" rIns="0" bIns="0" rtlCol="0" anchor="ctr"/>
          <a:lstStyle/>
          <a:p>
            <a:pPr indent="0" marL="0">
              <a:lnSpc>
                <a:spcPts val="1500"/>
              </a:lnSpc>
              <a:buNone/>
            </a:pPr>
            <a:r>
              <a:rPr lang="en-US" sz="1200" dirty="0">
                <a:solidFill>
                  <a:srgbClr val="C6D2D7"/>
                </a:solidFill>
                <a:latin typeface="Calibri" pitchFamily="34" charset="0"/>
                <a:ea typeface="Calibri" pitchFamily="34" charset="-122"/>
                <a:cs typeface="Calibri" pitchFamily="34" charset="-120"/>
              </a:rPr>
              <a:t>History, plus HGETALL pi:latest:Sinusoid for the snapshot.</a:t>
            </a:r>
            <a:endParaRPr lang="en-US" sz="1200" dirty="0"/>
          </a:p>
        </p:txBody>
      </p:sp>
      <p:sp>
        <p:nvSpPr>
          <p:cNvPr id="14" name="Shape 12"/>
          <p:cNvSpPr/>
          <p:nvPr/>
        </p:nvSpPr>
        <p:spPr>
          <a:xfrm>
            <a:off x="640080" y="3822192"/>
            <a:ext cx="10908792" cy="932688"/>
          </a:xfrm>
          <a:prstGeom prst="roundRect">
            <a:avLst>
              <a:gd name="adj" fmla="val 7843"/>
            </a:avLst>
          </a:prstGeom>
          <a:solidFill>
            <a:srgbClr val="163341"/>
          </a:solidFill>
          <a:ln/>
        </p:spPr>
      </p:sp>
      <p:sp>
        <p:nvSpPr>
          <p:cNvPr id="15" name="Text 13"/>
          <p:cNvSpPr/>
          <p:nvPr/>
        </p:nvSpPr>
        <p:spPr>
          <a:xfrm>
            <a:off x="777240" y="3822192"/>
            <a:ext cx="731520" cy="932688"/>
          </a:xfrm>
          <a:prstGeom prst="rect">
            <a:avLst/>
          </a:prstGeom>
          <a:noFill/>
          <a:ln/>
        </p:spPr>
        <p:txBody>
          <a:bodyPr wrap="square" lIns="0" tIns="0" rIns="0" bIns="0" rtlCol="0" anchor="ctr"/>
          <a:lstStyle/>
          <a:p>
            <a:pPr algn="ctr" indent="0" marL="0">
              <a:buNone/>
            </a:pPr>
            <a:r>
              <a:rPr lang="en-US" sz="3800" b="1" dirty="0">
                <a:solidFill>
                  <a:srgbClr val="FF4438"/>
                </a:solidFill>
                <a:latin typeface="Cambria" pitchFamily="34" charset="0"/>
                <a:ea typeface="Cambria" pitchFamily="34" charset="-122"/>
                <a:cs typeface="Cambria" pitchFamily="34" charset="-120"/>
              </a:rPr>
              <a:t>3</a:t>
            </a:r>
            <a:endParaRPr lang="en-US" sz="3800" dirty="0"/>
          </a:p>
        </p:txBody>
      </p:sp>
      <p:sp>
        <p:nvSpPr>
          <p:cNvPr id="16" name="Text 14"/>
          <p:cNvSpPr/>
          <p:nvPr/>
        </p:nvSpPr>
        <p:spPr>
          <a:xfrm>
            <a:off x="1691640" y="3941064"/>
            <a:ext cx="4023360" cy="38404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Check health &amp; metrics</a:t>
            </a:r>
            <a:endParaRPr lang="en-US" sz="1600" dirty="0"/>
          </a:p>
        </p:txBody>
      </p:sp>
      <p:sp>
        <p:nvSpPr>
          <p:cNvPr id="17" name="Text 15"/>
          <p:cNvSpPr/>
          <p:nvPr/>
        </p:nvSpPr>
        <p:spPr>
          <a:xfrm>
            <a:off x="1691640" y="4325112"/>
            <a:ext cx="5120640" cy="347472"/>
          </a:xfrm>
          <a:prstGeom prst="rect">
            <a:avLst/>
          </a:prstGeom>
          <a:noFill/>
          <a:ln/>
        </p:spPr>
        <p:txBody>
          <a:bodyPr wrap="square" lIns="0" tIns="0" rIns="0" bIns="0" rtlCol="0" anchor="ctr"/>
          <a:lstStyle/>
          <a:p>
            <a:pPr indent="0" marL="0">
              <a:buNone/>
            </a:pPr>
            <a:r>
              <a:rPr lang="en-US" sz="1200" dirty="0">
                <a:solidFill>
                  <a:srgbClr val="8FE3C7"/>
                </a:solidFill>
                <a:latin typeface="Courier New" pitchFamily="34" charset="0"/>
                <a:ea typeface="Courier New" pitchFamily="34" charset="-122"/>
                <a:cs typeface="Courier New" pitchFamily="34" charset="-120"/>
              </a:rPr>
              <a:t>curl localhost:9100/healthz   ·   /metrics</a:t>
            </a:r>
            <a:endParaRPr lang="en-US" sz="1200" dirty="0"/>
          </a:p>
        </p:txBody>
      </p:sp>
      <p:sp>
        <p:nvSpPr>
          <p:cNvPr id="18" name="Text 16"/>
          <p:cNvSpPr/>
          <p:nvPr/>
        </p:nvSpPr>
        <p:spPr>
          <a:xfrm>
            <a:off x="7040880" y="3941064"/>
            <a:ext cx="4343400" cy="713232"/>
          </a:xfrm>
          <a:prstGeom prst="rect">
            <a:avLst/>
          </a:prstGeom>
          <a:noFill/>
          <a:ln/>
        </p:spPr>
        <p:txBody>
          <a:bodyPr wrap="square" lIns="0" tIns="0" rIns="0" bIns="0" rtlCol="0" anchor="ctr"/>
          <a:lstStyle/>
          <a:p>
            <a:pPr indent="0" marL="0">
              <a:lnSpc>
                <a:spcPts val="1500"/>
              </a:lnSpc>
              <a:buNone/>
            </a:pPr>
            <a:r>
              <a:rPr lang="en-US" sz="1200" dirty="0">
                <a:solidFill>
                  <a:srgbClr val="C6D2D7"/>
                </a:solidFill>
                <a:latin typeface="Calibri" pitchFamily="34" charset="0"/>
                <a:ea typeface="Calibri" pitchFamily="34" charset="-122"/>
                <a:cs typeface="Calibri" pitchFamily="34" charset="-120"/>
              </a:rPr>
              <a:t>Returns {"status":"ok"} and Prometheus counters.</a:t>
            </a:r>
            <a:endParaRPr lang="en-US" sz="1200" dirty="0"/>
          </a:p>
        </p:txBody>
      </p:sp>
      <p:sp>
        <p:nvSpPr>
          <p:cNvPr id="19" name="Shape 17"/>
          <p:cNvSpPr/>
          <p:nvPr/>
        </p:nvSpPr>
        <p:spPr>
          <a:xfrm>
            <a:off x="640080" y="4864608"/>
            <a:ext cx="10908792" cy="932688"/>
          </a:xfrm>
          <a:prstGeom prst="roundRect">
            <a:avLst>
              <a:gd name="adj" fmla="val 7843"/>
            </a:avLst>
          </a:prstGeom>
          <a:solidFill>
            <a:srgbClr val="163341"/>
          </a:solidFill>
          <a:ln/>
        </p:spPr>
      </p:sp>
      <p:sp>
        <p:nvSpPr>
          <p:cNvPr id="20" name="Text 18"/>
          <p:cNvSpPr/>
          <p:nvPr/>
        </p:nvSpPr>
        <p:spPr>
          <a:xfrm>
            <a:off x="777240" y="4864608"/>
            <a:ext cx="731520" cy="932688"/>
          </a:xfrm>
          <a:prstGeom prst="rect">
            <a:avLst/>
          </a:prstGeom>
          <a:noFill/>
          <a:ln/>
        </p:spPr>
        <p:txBody>
          <a:bodyPr wrap="square" lIns="0" tIns="0" rIns="0" bIns="0" rtlCol="0" anchor="ctr"/>
          <a:lstStyle/>
          <a:p>
            <a:pPr algn="ctr" indent="0" marL="0">
              <a:buNone/>
            </a:pPr>
            <a:r>
              <a:rPr lang="en-US" sz="3800" b="1" dirty="0">
                <a:solidFill>
                  <a:srgbClr val="FF4438"/>
                </a:solidFill>
                <a:latin typeface="Cambria" pitchFamily="34" charset="0"/>
                <a:ea typeface="Cambria" pitchFamily="34" charset="-122"/>
                <a:cs typeface="Cambria" pitchFamily="34" charset="-120"/>
              </a:rPr>
              <a:t>4</a:t>
            </a:r>
            <a:endParaRPr lang="en-US" sz="3800" dirty="0"/>
          </a:p>
        </p:txBody>
      </p:sp>
      <p:sp>
        <p:nvSpPr>
          <p:cNvPr id="21" name="Text 19"/>
          <p:cNvSpPr/>
          <p:nvPr/>
        </p:nvSpPr>
        <p:spPr>
          <a:xfrm>
            <a:off x="1691640" y="4983480"/>
            <a:ext cx="4023360" cy="38404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Prove gap recovery</a:t>
            </a:r>
            <a:endParaRPr lang="en-US" sz="1600" dirty="0"/>
          </a:p>
        </p:txBody>
      </p:sp>
      <p:sp>
        <p:nvSpPr>
          <p:cNvPr id="22" name="Text 20"/>
          <p:cNvSpPr/>
          <p:nvPr/>
        </p:nvSpPr>
        <p:spPr>
          <a:xfrm>
            <a:off x="1691640" y="5367528"/>
            <a:ext cx="5120640" cy="347472"/>
          </a:xfrm>
          <a:prstGeom prst="rect">
            <a:avLst/>
          </a:prstGeom>
          <a:noFill/>
          <a:ln/>
        </p:spPr>
        <p:txBody>
          <a:bodyPr wrap="square" lIns="0" tIns="0" rIns="0" bIns="0" rtlCol="0" anchor="ctr"/>
          <a:lstStyle/>
          <a:p>
            <a:pPr indent="0" marL="0">
              <a:buNone/>
            </a:pPr>
            <a:r>
              <a:rPr lang="en-US" sz="1200" dirty="0">
                <a:solidFill>
                  <a:srgbClr val="8FE3C7"/>
                </a:solidFill>
                <a:latin typeface="Courier New" pitchFamily="34" charset="0"/>
                <a:ea typeface="Courier New" pitchFamily="34" charset="-122"/>
                <a:cs typeface="Courier New" pitchFamily="34" charset="-120"/>
              </a:rPr>
              <a:t>stop the service · wait · start again</a:t>
            </a:r>
            <a:endParaRPr lang="en-US" sz="1200" dirty="0"/>
          </a:p>
        </p:txBody>
      </p:sp>
      <p:sp>
        <p:nvSpPr>
          <p:cNvPr id="23" name="Text 21"/>
          <p:cNvSpPr/>
          <p:nvPr/>
        </p:nvSpPr>
        <p:spPr>
          <a:xfrm>
            <a:off x="7040880" y="4983480"/>
            <a:ext cx="4343400" cy="713232"/>
          </a:xfrm>
          <a:prstGeom prst="rect">
            <a:avLst/>
          </a:prstGeom>
          <a:noFill/>
          <a:ln/>
        </p:spPr>
        <p:txBody>
          <a:bodyPr wrap="square" lIns="0" tIns="0" rIns="0" bIns="0" rtlCol="0" anchor="ctr"/>
          <a:lstStyle/>
          <a:p>
            <a:pPr indent="0" marL="0">
              <a:lnSpc>
                <a:spcPts val="1500"/>
              </a:lnSpc>
              <a:buNone/>
            </a:pPr>
            <a:r>
              <a:rPr lang="en-US" sz="1200" dirty="0">
                <a:solidFill>
                  <a:srgbClr val="C6D2D7"/>
                </a:solidFill>
                <a:latin typeface="Calibri" pitchFamily="34" charset="0"/>
                <a:ea typeface="Calibri" pitchFamily="34" charset="-122"/>
                <a:cs typeface="Calibri" pitchFamily="34" charset="-120"/>
              </a:rPr>
              <a:t>It resumes from the checkpoint and backfills the outage.</a:t>
            </a:r>
            <a:endParaRPr lang="en-US" sz="1200" dirty="0"/>
          </a:p>
        </p:txBody>
      </p:sp>
      <p:sp>
        <p:nvSpPr>
          <p:cNvPr id="24" name="Shape 22"/>
          <p:cNvSpPr/>
          <p:nvPr/>
        </p:nvSpPr>
        <p:spPr>
          <a:xfrm>
            <a:off x="640080" y="5925312"/>
            <a:ext cx="10908792" cy="548640"/>
          </a:xfrm>
          <a:prstGeom prst="roundRect">
            <a:avLst>
              <a:gd name="adj" fmla="val 13333"/>
            </a:avLst>
          </a:prstGeom>
          <a:solidFill>
            <a:srgbClr val="091A23"/>
          </a:solidFill>
          <a:ln w="15875">
            <a:solidFill>
              <a:srgbClr val="FF4438"/>
            </a:solidFill>
            <a:prstDash val="solid"/>
          </a:ln>
        </p:spPr>
      </p:sp>
      <p:sp>
        <p:nvSpPr>
          <p:cNvPr id="25" name="Text 23"/>
          <p:cNvSpPr/>
          <p:nvPr/>
        </p:nvSpPr>
        <p:spPr>
          <a:xfrm>
            <a:off x="914400" y="5925312"/>
            <a:ext cx="10332720" cy="548640"/>
          </a:xfrm>
          <a:prstGeom prst="rect">
            <a:avLst/>
          </a:prstGeom>
          <a:noFill/>
          <a:ln/>
        </p:spPr>
        <p:txBody>
          <a:bodyPr wrap="square" lIns="0" tIns="0" rIns="0" bIns="0" rtlCol="0" anchor="ctr"/>
          <a:lstStyle/>
          <a:p>
            <a:pPr indent="0" marL="0">
              <a:buNone/>
            </a:pPr>
            <a:r>
              <a:rPr lang="en-US" sz="1250" b="1" dirty="0">
                <a:solidFill>
                  <a:srgbClr val="FF4438"/>
                </a:solidFill>
                <a:latin typeface="Calibri" pitchFamily="34" charset="0"/>
                <a:ea typeface="Calibri" pitchFamily="34" charset="-122"/>
                <a:cs typeface="Calibri" pitchFamily="34" charset="-120"/>
              </a:rPr>
              <a:t>Show it live:  </a:t>
            </a:r>
            <a:pPr indent="0" marL="0">
              <a:buNone/>
            </a:pPr>
            <a:r>
              <a:rPr lang="en-US" sz="1250" dirty="0">
                <a:solidFill>
                  <a:srgbClr val="C6D2D7"/>
                </a:solidFill>
                <a:latin typeface="Calibri" pitchFamily="34" charset="0"/>
                <a:ea typeface="Calibri" pitchFamily="34" charset="-122"/>
                <a:cs typeface="Calibri" pitchFamily="34" charset="-120"/>
              </a:rPr>
              <a:t>run  </a:t>
            </a:r>
            <a:pPr indent="0" marL="0">
              <a:buNone/>
            </a:pPr>
            <a:r>
              <a:rPr lang="en-US" sz="1250" dirty="0">
                <a:solidFill>
                  <a:srgbClr val="8FE3C7"/>
                </a:solidFill>
                <a:latin typeface="Courier New" pitchFamily="34" charset="0"/>
                <a:ea typeface="Courier New" pitchFamily="34" charset="-122"/>
                <a:cs typeface="Courier New" pitchFamily="34" charset="-120"/>
              </a:rPr>
              <a:t>redis-cli MONITOR</a:t>
            </a:r>
            <a:pPr indent="0" marL="0">
              <a:buNone/>
            </a:pPr>
            <a:r>
              <a:rPr lang="en-US" sz="1250" dirty="0">
                <a:solidFill>
                  <a:srgbClr val="C6D2D7"/>
                </a:solidFill>
                <a:latin typeface="Calibri" pitchFamily="34" charset="0"/>
                <a:ea typeface="Calibri" pitchFamily="34" charset="-122"/>
                <a:cs typeface="Calibri" pitchFamily="34" charset="-120"/>
              </a:rPr>
              <a:t>  (or the RedisInsight Profiler) so the audience sees every command as it executes.</a:t>
            </a:r>
            <a:endParaRPr lang="en-US" sz="1250" dirty="0"/>
          </a:p>
        </p:txBody>
      </p:sp>
      <p:sp>
        <p:nvSpPr>
          <p:cNvPr id="26" name="Text 24"/>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7E9099"/>
                </a:solidFill>
                <a:latin typeface="Calibri" pitchFamily="34" charset="0"/>
                <a:ea typeface="Calibri" pitchFamily="34" charset="-122"/>
                <a:cs typeface="Calibri" pitchFamily="34" charset="-120"/>
              </a:rPr>
              <a:t>github.com/amitmknit/aveva-pi-redis-integration</a:t>
            </a:r>
            <a:endParaRPr lang="en-US" sz="900" dirty="0"/>
          </a:p>
        </p:txBody>
      </p:sp>
      <p:sp>
        <p:nvSpPr>
          <p:cNvPr id="27" name="Text 25"/>
          <p:cNvSpPr/>
          <p:nvPr/>
        </p:nvSpPr>
        <p:spPr>
          <a:xfrm>
            <a:off x="8028432" y="6473952"/>
            <a:ext cx="3657600" cy="274320"/>
          </a:xfrm>
          <a:prstGeom prst="rect">
            <a:avLst/>
          </a:prstGeom>
          <a:noFill/>
          <a:ln/>
        </p:spPr>
        <p:txBody>
          <a:bodyPr wrap="square" lIns="0" tIns="0" rIns="0" bIns="0" rtlCol="0" anchor="ctr"/>
          <a:lstStyle/>
          <a:p>
            <a:pPr algn="r" indent="0" marL="0">
              <a:buNone/>
            </a:pPr>
            <a:r>
              <a:rPr lang="en-US" sz="900" dirty="0">
                <a:solidFill>
                  <a:srgbClr val="7E9099"/>
                </a:solidFill>
                <a:latin typeface="Calibri" pitchFamily="34" charset="0"/>
                <a:ea typeface="Calibri" pitchFamily="34" charset="-122"/>
                <a:cs typeface="Calibri" pitchFamily="34" charset="-120"/>
              </a:rPr>
              <a:t>Redis  ·  Proof of Concept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9"/>
        </a:solidFill>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indent="0" marL="0">
              <a:buNone/>
            </a:pPr>
            <a:r>
              <a:rPr lang="en-US" sz="1200" b="1" spc="300" kern="0" dirty="0">
                <a:solidFill>
                  <a:srgbClr val="FF4438"/>
                </a:solidFill>
                <a:latin typeface="Calibri" pitchFamily="34" charset="0"/>
                <a:ea typeface="Calibri" pitchFamily="34" charset="-122"/>
                <a:cs typeface="Calibri" pitchFamily="34" charset="-120"/>
              </a:rPr>
              <a:t>WHY REDIS</a:t>
            </a:r>
            <a:endParaRPr lang="en-US" sz="1200" dirty="0"/>
          </a:p>
        </p:txBody>
      </p:sp>
      <p:sp>
        <p:nvSpPr>
          <p:cNvPr id="3" name="Text 1"/>
          <p:cNvSpPr/>
          <p:nvPr/>
        </p:nvSpPr>
        <p:spPr>
          <a:xfrm>
            <a:off x="640080" y="822960"/>
            <a:ext cx="10515600" cy="640080"/>
          </a:xfrm>
          <a:prstGeom prst="rect">
            <a:avLst/>
          </a:prstGeom>
          <a:noFill/>
          <a:ln/>
        </p:spPr>
        <p:txBody>
          <a:bodyPr wrap="square" lIns="0" tIns="0" rIns="0" bIns="0" rtlCol="0" anchor="ctr"/>
          <a:lstStyle/>
          <a:p>
            <a:pPr indent="0" marL="0">
              <a:buNone/>
            </a:pPr>
            <a:r>
              <a:rPr lang="en-US" sz="3200" b="1" dirty="0">
                <a:solidFill>
                  <a:srgbClr val="163341"/>
                </a:solidFill>
                <a:latin typeface="Cambria" pitchFamily="34" charset="0"/>
                <a:ea typeface="Cambria" pitchFamily="34" charset="-122"/>
                <a:cs typeface="Cambria" pitchFamily="34" charset="-120"/>
              </a:rPr>
              <a:t>The right store for live sensor data</a:t>
            </a:r>
            <a:endParaRPr lang="en-US" sz="3200" dirty="0"/>
          </a:p>
        </p:txBody>
      </p:sp>
      <p:sp>
        <p:nvSpPr>
          <p:cNvPr id="4" name="Shape 2"/>
          <p:cNvSpPr/>
          <p:nvPr/>
        </p:nvSpPr>
        <p:spPr>
          <a:xfrm>
            <a:off x="640080" y="1874520"/>
            <a:ext cx="5276088" cy="1828800"/>
          </a:xfrm>
          <a:prstGeom prst="roundRect">
            <a:avLst>
              <a:gd name="adj" fmla="val 4000"/>
            </a:avLst>
          </a:prstGeom>
          <a:solidFill>
            <a:srgbClr val="FFFFFF"/>
          </a:solidFill>
          <a:ln w="12700">
            <a:solidFill>
              <a:srgbClr val="D8E0E3"/>
            </a:solidFill>
            <a:prstDash val="solid"/>
          </a:ln>
          <a:effectLst>
            <a:outerShdw sx="100000" sy="100000" kx="0" ky="0" algn="bl" rotWithShape="0" blurRad="76200" dist="38100" dir="5400000">
              <a:srgbClr val="9AA7AD">
                <a:alpha val="35000"/>
              </a:srgbClr>
            </a:outerShdw>
          </a:effectLst>
        </p:spPr>
      </p:sp>
      <p:sp>
        <p:nvSpPr>
          <p:cNvPr id="5" name="Shape 3"/>
          <p:cNvSpPr/>
          <p:nvPr/>
        </p:nvSpPr>
        <p:spPr>
          <a:xfrm>
            <a:off x="960120" y="2167128"/>
            <a:ext cx="457200" cy="457200"/>
          </a:xfrm>
          <a:prstGeom prst="roundRect">
            <a:avLst>
              <a:gd name="adj" fmla="val 20000"/>
            </a:avLst>
          </a:prstGeom>
          <a:solidFill>
            <a:srgbClr val="FF4438"/>
          </a:solidFill>
          <a:ln/>
        </p:spPr>
      </p:sp>
      <p:sp>
        <p:nvSpPr>
          <p:cNvPr id="6" name="Text 4"/>
          <p:cNvSpPr/>
          <p:nvPr/>
        </p:nvSpPr>
        <p:spPr>
          <a:xfrm>
            <a:off x="1600200" y="2148840"/>
            <a:ext cx="4087368" cy="502920"/>
          </a:xfrm>
          <a:prstGeom prst="rect">
            <a:avLst/>
          </a:prstGeom>
          <a:noFill/>
          <a:ln/>
        </p:spPr>
        <p:txBody>
          <a:bodyPr wrap="square" lIns="0" tIns="0" rIns="0" bIns="0" rtlCol="0" anchor="ctr"/>
          <a:lstStyle/>
          <a:p>
            <a:pPr indent="0" marL="0">
              <a:buNone/>
            </a:pPr>
            <a:r>
              <a:rPr lang="en-US" sz="1700" b="1" dirty="0">
                <a:solidFill>
                  <a:srgbClr val="163341"/>
                </a:solidFill>
                <a:latin typeface="Calibri" pitchFamily="34" charset="0"/>
                <a:ea typeface="Calibri" pitchFamily="34" charset="-122"/>
                <a:cs typeface="Calibri" pitchFamily="34" charset="-120"/>
              </a:rPr>
              <a:t>Purpose-built time-series</a:t>
            </a:r>
            <a:endParaRPr lang="en-US" sz="1700" dirty="0"/>
          </a:p>
        </p:txBody>
      </p:sp>
      <p:sp>
        <p:nvSpPr>
          <p:cNvPr id="7" name="Text 5"/>
          <p:cNvSpPr/>
          <p:nvPr/>
        </p:nvSpPr>
        <p:spPr>
          <a:xfrm>
            <a:off x="987552" y="2743200"/>
            <a:ext cx="4590288" cy="822960"/>
          </a:xfrm>
          <a:prstGeom prst="rect">
            <a:avLst/>
          </a:prstGeom>
          <a:noFill/>
          <a:ln/>
        </p:spPr>
        <p:txBody>
          <a:bodyPr wrap="square" lIns="0" tIns="0" rIns="0" bIns="0" rtlCol="0" anchor="ctr"/>
          <a:lstStyle/>
          <a:p>
            <a:pPr indent="0" marL="0">
              <a:lnSpc>
                <a:spcPts val="1800"/>
              </a:lnSpc>
              <a:buNone/>
            </a:pPr>
            <a:r>
              <a:rPr lang="en-US" sz="1350" dirty="0">
                <a:solidFill>
                  <a:srgbClr val="5C6B73"/>
                </a:solidFill>
                <a:latin typeface="Calibri" pitchFamily="34" charset="0"/>
                <a:ea typeface="Calibri" pitchFamily="34" charset="-122"/>
                <a:cs typeface="Calibri" pitchFamily="34" charset="-120"/>
              </a:rPr>
              <a:t>RedisTimeSeries stores, retains and downsamples samples natively — MRANGE across tags by label.</a:t>
            </a:r>
            <a:endParaRPr lang="en-US" sz="1350" dirty="0"/>
          </a:p>
        </p:txBody>
      </p:sp>
      <p:sp>
        <p:nvSpPr>
          <p:cNvPr id="8" name="Shape 6"/>
          <p:cNvSpPr/>
          <p:nvPr/>
        </p:nvSpPr>
        <p:spPr>
          <a:xfrm>
            <a:off x="6272784" y="1874520"/>
            <a:ext cx="5276088" cy="1828800"/>
          </a:xfrm>
          <a:prstGeom prst="roundRect">
            <a:avLst>
              <a:gd name="adj" fmla="val 4000"/>
            </a:avLst>
          </a:prstGeom>
          <a:solidFill>
            <a:srgbClr val="FFFFFF"/>
          </a:solidFill>
          <a:ln w="12700">
            <a:solidFill>
              <a:srgbClr val="D8E0E3"/>
            </a:solidFill>
            <a:prstDash val="solid"/>
          </a:ln>
          <a:effectLst>
            <a:outerShdw sx="100000" sy="100000" kx="0" ky="0" algn="bl" rotWithShape="0" blurRad="76200" dist="38100" dir="5400000">
              <a:srgbClr val="9AA7AD">
                <a:alpha val="35000"/>
              </a:srgbClr>
            </a:outerShdw>
          </a:effectLst>
        </p:spPr>
      </p:sp>
      <p:sp>
        <p:nvSpPr>
          <p:cNvPr id="9" name="Shape 7"/>
          <p:cNvSpPr/>
          <p:nvPr/>
        </p:nvSpPr>
        <p:spPr>
          <a:xfrm>
            <a:off x="6592824" y="2167128"/>
            <a:ext cx="457200" cy="457200"/>
          </a:xfrm>
          <a:prstGeom prst="roundRect">
            <a:avLst>
              <a:gd name="adj" fmla="val 20000"/>
            </a:avLst>
          </a:prstGeom>
          <a:solidFill>
            <a:srgbClr val="FF4438"/>
          </a:solidFill>
          <a:ln/>
        </p:spPr>
      </p:sp>
      <p:sp>
        <p:nvSpPr>
          <p:cNvPr id="10" name="Text 8"/>
          <p:cNvSpPr/>
          <p:nvPr/>
        </p:nvSpPr>
        <p:spPr>
          <a:xfrm>
            <a:off x="7232904" y="2148840"/>
            <a:ext cx="4087368" cy="502920"/>
          </a:xfrm>
          <a:prstGeom prst="rect">
            <a:avLst/>
          </a:prstGeom>
          <a:noFill/>
          <a:ln/>
        </p:spPr>
        <p:txBody>
          <a:bodyPr wrap="square" lIns="0" tIns="0" rIns="0" bIns="0" rtlCol="0" anchor="ctr"/>
          <a:lstStyle/>
          <a:p>
            <a:pPr indent="0" marL="0">
              <a:buNone/>
            </a:pPr>
            <a:r>
              <a:rPr lang="en-US" sz="1700" b="1" dirty="0">
                <a:solidFill>
                  <a:srgbClr val="163341"/>
                </a:solidFill>
                <a:latin typeface="Calibri" pitchFamily="34" charset="0"/>
                <a:ea typeface="Calibri" pitchFamily="34" charset="-122"/>
                <a:cs typeface="Calibri" pitchFamily="34" charset="-120"/>
              </a:rPr>
              <a:t>In-memory speed</a:t>
            </a:r>
            <a:endParaRPr lang="en-US" sz="1700" dirty="0"/>
          </a:p>
        </p:txBody>
      </p:sp>
      <p:sp>
        <p:nvSpPr>
          <p:cNvPr id="11" name="Text 9"/>
          <p:cNvSpPr/>
          <p:nvPr/>
        </p:nvSpPr>
        <p:spPr>
          <a:xfrm>
            <a:off x="6620256" y="2743200"/>
            <a:ext cx="4590288" cy="822960"/>
          </a:xfrm>
          <a:prstGeom prst="rect">
            <a:avLst/>
          </a:prstGeom>
          <a:noFill/>
          <a:ln/>
        </p:spPr>
        <p:txBody>
          <a:bodyPr wrap="square" lIns="0" tIns="0" rIns="0" bIns="0" rtlCol="0" anchor="ctr"/>
          <a:lstStyle/>
          <a:p>
            <a:pPr indent="0" marL="0">
              <a:lnSpc>
                <a:spcPts val="1800"/>
              </a:lnSpc>
              <a:buNone/>
            </a:pPr>
            <a:r>
              <a:rPr lang="en-US" sz="1350" dirty="0">
                <a:solidFill>
                  <a:srgbClr val="5C6B73"/>
                </a:solidFill>
                <a:latin typeface="Calibri" pitchFamily="34" charset="0"/>
                <a:ea typeface="Calibri" pitchFamily="34" charset="-122"/>
                <a:cs typeface="Calibri" pitchFamily="34" charset="-120"/>
              </a:rPr>
              <a:t>Sub-millisecond reads for dashboards, alerting and real-time ML feature lookups.</a:t>
            </a:r>
            <a:endParaRPr lang="en-US" sz="1350" dirty="0"/>
          </a:p>
        </p:txBody>
      </p:sp>
      <p:sp>
        <p:nvSpPr>
          <p:cNvPr id="12" name="Shape 10"/>
          <p:cNvSpPr/>
          <p:nvPr/>
        </p:nvSpPr>
        <p:spPr>
          <a:xfrm>
            <a:off x="640080" y="3977640"/>
            <a:ext cx="5276088" cy="1828800"/>
          </a:xfrm>
          <a:prstGeom prst="roundRect">
            <a:avLst>
              <a:gd name="adj" fmla="val 4000"/>
            </a:avLst>
          </a:prstGeom>
          <a:solidFill>
            <a:srgbClr val="FFFFFF"/>
          </a:solidFill>
          <a:ln w="12700">
            <a:solidFill>
              <a:srgbClr val="D8E0E3"/>
            </a:solidFill>
            <a:prstDash val="solid"/>
          </a:ln>
          <a:effectLst>
            <a:outerShdw sx="100000" sy="100000" kx="0" ky="0" algn="bl" rotWithShape="0" blurRad="76200" dist="38100" dir="5400000">
              <a:srgbClr val="9AA7AD">
                <a:alpha val="35000"/>
              </a:srgbClr>
            </a:outerShdw>
          </a:effectLst>
        </p:spPr>
      </p:sp>
      <p:sp>
        <p:nvSpPr>
          <p:cNvPr id="13" name="Shape 11"/>
          <p:cNvSpPr/>
          <p:nvPr/>
        </p:nvSpPr>
        <p:spPr>
          <a:xfrm>
            <a:off x="960120" y="4270248"/>
            <a:ext cx="457200" cy="457200"/>
          </a:xfrm>
          <a:prstGeom prst="roundRect">
            <a:avLst>
              <a:gd name="adj" fmla="val 20000"/>
            </a:avLst>
          </a:prstGeom>
          <a:solidFill>
            <a:srgbClr val="FF4438"/>
          </a:solidFill>
          <a:ln/>
        </p:spPr>
      </p:sp>
      <p:sp>
        <p:nvSpPr>
          <p:cNvPr id="14" name="Text 12"/>
          <p:cNvSpPr/>
          <p:nvPr/>
        </p:nvSpPr>
        <p:spPr>
          <a:xfrm>
            <a:off x="1600200" y="4251960"/>
            <a:ext cx="4087368" cy="502920"/>
          </a:xfrm>
          <a:prstGeom prst="rect">
            <a:avLst/>
          </a:prstGeom>
          <a:noFill/>
          <a:ln/>
        </p:spPr>
        <p:txBody>
          <a:bodyPr wrap="square" lIns="0" tIns="0" rIns="0" bIns="0" rtlCol="0" anchor="ctr"/>
          <a:lstStyle/>
          <a:p>
            <a:pPr indent="0" marL="0">
              <a:buNone/>
            </a:pPr>
            <a:r>
              <a:rPr lang="en-US" sz="1700" b="1" dirty="0">
                <a:solidFill>
                  <a:srgbClr val="163341"/>
                </a:solidFill>
                <a:latin typeface="Calibri" pitchFamily="34" charset="0"/>
                <a:ea typeface="Calibri" pitchFamily="34" charset="-122"/>
                <a:cs typeface="Calibri" pitchFamily="34" charset="-120"/>
              </a:rPr>
              <a:t>Real-time fan-out</a:t>
            </a:r>
            <a:endParaRPr lang="en-US" sz="1700" dirty="0"/>
          </a:p>
        </p:txBody>
      </p:sp>
      <p:sp>
        <p:nvSpPr>
          <p:cNvPr id="15" name="Text 13"/>
          <p:cNvSpPr/>
          <p:nvPr/>
        </p:nvSpPr>
        <p:spPr>
          <a:xfrm>
            <a:off x="987552" y="4846320"/>
            <a:ext cx="4590288" cy="822960"/>
          </a:xfrm>
          <a:prstGeom prst="rect">
            <a:avLst/>
          </a:prstGeom>
          <a:noFill/>
          <a:ln/>
        </p:spPr>
        <p:txBody>
          <a:bodyPr wrap="square" lIns="0" tIns="0" rIns="0" bIns="0" rtlCol="0" anchor="ctr"/>
          <a:lstStyle/>
          <a:p>
            <a:pPr indent="0" marL="0">
              <a:lnSpc>
                <a:spcPts val="1800"/>
              </a:lnSpc>
              <a:buNone/>
            </a:pPr>
            <a:r>
              <a:rPr lang="en-US" sz="1350" dirty="0">
                <a:solidFill>
                  <a:srgbClr val="5C6B73"/>
                </a:solidFill>
                <a:latin typeface="Calibri" pitchFamily="34" charset="0"/>
                <a:ea typeface="Calibri" pitchFamily="34" charset="-122"/>
                <a:cs typeface="Calibri" pitchFamily="34" charset="-120"/>
              </a:rPr>
              <a:t>Pub/Sub (and Streams) push every new sample to any number of downstream consumers.</a:t>
            </a:r>
            <a:endParaRPr lang="en-US" sz="1350" dirty="0"/>
          </a:p>
        </p:txBody>
      </p:sp>
      <p:sp>
        <p:nvSpPr>
          <p:cNvPr id="16" name="Shape 14"/>
          <p:cNvSpPr/>
          <p:nvPr/>
        </p:nvSpPr>
        <p:spPr>
          <a:xfrm>
            <a:off x="6272784" y="3977640"/>
            <a:ext cx="5276088" cy="1828800"/>
          </a:xfrm>
          <a:prstGeom prst="roundRect">
            <a:avLst>
              <a:gd name="adj" fmla="val 4000"/>
            </a:avLst>
          </a:prstGeom>
          <a:solidFill>
            <a:srgbClr val="FFFFFF"/>
          </a:solidFill>
          <a:ln w="12700">
            <a:solidFill>
              <a:srgbClr val="D8E0E3"/>
            </a:solidFill>
            <a:prstDash val="solid"/>
          </a:ln>
          <a:effectLst>
            <a:outerShdw sx="100000" sy="100000" kx="0" ky="0" algn="bl" rotWithShape="0" blurRad="76200" dist="38100" dir="5400000">
              <a:srgbClr val="9AA7AD">
                <a:alpha val="35000"/>
              </a:srgbClr>
            </a:outerShdw>
          </a:effectLst>
        </p:spPr>
      </p:sp>
      <p:sp>
        <p:nvSpPr>
          <p:cNvPr id="17" name="Shape 15"/>
          <p:cNvSpPr/>
          <p:nvPr/>
        </p:nvSpPr>
        <p:spPr>
          <a:xfrm>
            <a:off x="6592824" y="4270248"/>
            <a:ext cx="457200" cy="457200"/>
          </a:xfrm>
          <a:prstGeom prst="roundRect">
            <a:avLst>
              <a:gd name="adj" fmla="val 20000"/>
            </a:avLst>
          </a:prstGeom>
          <a:solidFill>
            <a:srgbClr val="FF4438"/>
          </a:solidFill>
          <a:ln/>
        </p:spPr>
      </p:sp>
      <p:sp>
        <p:nvSpPr>
          <p:cNvPr id="18" name="Text 16"/>
          <p:cNvSpPr/>
          <p:nvPr/>
        </p:nvSpPr>
        <p:spPr>
          <a:xfrm>
            <a:off x="7232904" y="4251960"/>
            <a:ext cx="4087368" cy="502920"/>
          </a:xfrm>
          <a:prstGeom prst="rect">
            <a:avLst/>
          </a:prstGeom>
          <a:noFill/>
          <a:ln/>
        </p:spPr>
        <p:txBody>
          <a:bodyPr wrap="square" lIns="0" tIns="0" rIns="0" bIns="0" rtlCol="0" anchor="ctr"/>
          <a:lstStyle/>
          <a:p>
            <a:pPr indent="0" marL="0">
              <a:buNone/>
            </a:pPr>
            <a:r>
              <a:rPr lang="en-US" sz="1700" b="1" dirty="0">
                <a:solidFill>
                  <a:srgbClr val="163341"/>
                </a:solidFill>
                <a:latin typeface="Calibri" pitchFamily="34" charset="0"/>
                <a:ea typeface="Calibri" pitchFamily="34" charset="-122"/>
                <a:cs typeface="Calibri" pitchFamily="34" charset="-120"/>
              </a:rPr>
              <a:t>One platform</a:t>
            </a:r>
            <a:endParaRPr lang="en-US" sz="1700" dirty="0"/>
          </a:p>
        </p:txBody>
      </p:sp>
      <p:sp>
        <p:nvSpPr>
          <p:cNvPr id="19" name="Text 17"/>
          <p:cNvSpPr/>
          <p:nvPr/>
        </p:nvSpPr>
        <p:spPr>
          <a:xfrm>
            <a:off x="6620256" y="4846320"/>
            <a:ext cx="4590288" cy="822960"/>
          </a:xfrm>
          <a:prstGeom prst="rect">
            <a:avLst/>
          </a:prstGeom>
          <a:noFill/>
          <a:ln/>
        </p:spPr>
        <p:txBody>
          <a:bodyPr wrap="square" lIns="0" tIns="0" rIns="0" bIns="0" rtlCol="0" anchor="ctr"/>
          <a:lstStyle/>
          <a:p>
            <a:pPr indent="0" marL="0">
              <a:lnSpc>
                <a:spcPts val="1800"/>
              </a:lnSpc>
              <a:buNone/>
            </a:pPr>
            <a:r>
              <a:rPr lang="en-US" sz="1350" dirty="0">
                <a:solidFill>
                  <a:srgbClr val="5C6B73"/>
                </a:solidFill>
                <a:latin typeface="Calibri" pitchFamily="34" charset="0"/>
                <a:ea typeface="Calibri" pitchFamily="34" charset="-122"/>
                <a:cs typeface="Calibri" pitchFamily="34" charset="-120"/>
              </a:rPr>
              <a:t>Cache, time-series, messaging and search in a single system — less to run and operate.</a:t>
            </a:r>
            <a:endParaRPr lang="en-US" sz="1350" dirty="0"/>
          </a:p>
        </p:txBody>
      </p:sp>
      <p:sp>
        <p:nvSpPr>
          <p:cNvPr id="20" name="Text 18"/>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5C6B73"/>
                </a:solidFill>
                <a:latin typeface="Calibri" pitchFamily="34" charset="0"/>
                <a:ea typeface="Calibri" pitchFamily="34" charset="-122"/>
                <a:cs typeface="Calibri" pitchFamily="34" charset="-120"/>
              </a:rPr>
              <a:t>github.com/amitmknit/aveva-pi-redis-integration</a:t>
            </a:r>
            <a:endParaRPr lang="en-US" sz="900" dirty="0"/>
          </a:p>
        </p:txBody>
      </p:sp>
      <p:sp>
        <p:nvSpPr>
          <p:cNvPr id="21" name="Text 19"/>
          <p:cNvSpPr/>
          <p:nvPr/>
        </p:nvSpPr>
        <p:spPr>
          <a:xfrm>
            <a:off x="8028432" y="6473952"/>
            <a:ext cx="3657600" cy="274320"/>
          </a:xfrm>
          <a:prstGeom prst="rect">
            <a:avLst/>
          </a:prstGeom>
          <a:noFill/>
          <a:ln/>
        </p:spPr>
        <p:txBody>
          <a:bodyPr wrap="square" lIns="0" tIns="0" rIns="0" bIns="0" rtlCol="0" anchor="ctr"/>
          <a:lstStyle/>
          <a:p>
            <a:pPr algn="r" indent="0" marL="0">
              <a:buNone/>
            </a:pPr>
            <a:r>
              <a:rPr lang="en-US" sz="900" dirty="0">
                <a:solidFill>
                  <a:srgbClr val="5C6B73"/>
                </a:solidFill>
                <a:latin typeface="Calibri" pitchFamily="34" charset="0"/>
                <a:ea typeface="Calibri" pitchFamily="34" charset="-122"/>
                <a:cs typeface="Calibri" pitchFamily="34" charset="-120"/>
              </a:rPr>
              <a:t>Redis  ·  Proof of Concept</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8F9"/>
        </a:solidFill>
      </p:bgPr>
    </p:bg>
    <p:spTree>
      <p:nvGrpSpPr>
        <p:cNvPr id="1" name=""/>
        <p:cNvGrpSpPr/>
        <p:nvPr/>
      </p:nvGrpSpPr>
      <p:grpSpPr>
        <a:xfrm>
          <a:off x="0" y="0"/>
          <a:ext cx="0" cy="0"/>
          <a:chOff x="0" y="0"/>
          <a:chExt cx="0" cy="0"/>
        </a:xfrm>
      </p:grpSpPr>
      <p:sp>
        <p:nvSpPr>
          <p:cNvPr id="2" name="Text 0"/>
          <p:cNvSpPr/>
          <p:nvPr/>
        </p:nvSpPr>
        <p:spPr>
          <a:xfrm>
            <a:off x="640080" y="457200"/>
            <a:ext cx="7315200" cy="274320"/>
          </a:xfrm>
          <a:prstGeom prst="rect">
            <a:avLst/>
          </a:prstGeom>
          <a:noFill/>
          <a:ln/>
        </p:spPr>
        <p:txBody>
          <a:bodyPr wrap="square" lIns="0" tIns="0" rIns="0" bIns="0" rtlCol="0" anchor="ctr"/>
          <a:lstStyle/>
          <a:p>
            <a:pPr indent="0" marL="0">
              <a:buNone/>
            </a:pPr>
            <a:r>
              <a:rPr lang="en-US" sz="1200" b="1" spc="300" kern="0" dirty="0">
                <a:solidFill>
                  <a:srgbClr val="FF4438"/>
                </a:solidFill>
                <a:latin typeface="Calibri" pitchFamily="34" charset="0"/>
                <a:ea typeface="Calibri" pitchFamily="34" charset="-122"/>
                <a:cs typeface="Calibri" pitchFamily="34" charset="-120"/>
              </a:rPr>
              <a:t>REDIS VS. QUERYING PI DIRECTLY</a:t>
            </a:r>
            <a:endParaRPr lang="en-US" sz="1200" dirty="0"/>
          </a:p>
        </p:txBody>
      </p:sp>
      <p:sp>
        <p:nvSpPr>
          <p:cNvPr id="3" name="Text 1"/>
          <p:cNvSpPr/>
          <p:nvPr/>
        </p:nvSpPr>
        <p:spPr>
          <a:xfrm>
            <a:off x="640080" y="777240"/>
            <a:ext cx="10515600" cy="548640"/>
          </a:xfrm>
          <a:prstGeom prst="rect">
            <a:avLst/>
          </a:prstGeom>
          <a:noFill/>
          <a:ln/>
        </p:spPr>
        <p:txBody>
          <a:bodyPr wrap="square" lIns="0" tIns="0" rIns="0" bIns="0" rtlCol="0" anchor="ctr"/>
          <a:lstStyle/>
          <a:p>
            <a:pPr indent="0" marL="0">
              <a:buNone/>
            </a:pPr>
            <a:r>
              <a:rPr lang="en-US" sz="3000" b="1" dirty="0">
                <a:solidFill>
                  <a:srgbClr val="163341"/>
                </a:solidFill>
                <a:latin typeface="Cambria" pitchFamily="34" charset="0"/>
                <a:ea typeface="Cambria" pitchFamily="34" charset="-122"/>
                <a:cs typeface="Cambria" pitchFamily="34" charset="-120"/>
              </a:rPr>
              <a:t>Why put Redis in front of the historian</a:t>
            </a:r>
            <a:endParaRPr lang="en-US" sz="3000" dirty="0"/>
          </a:p>
        </p:txBody>
      </p:sp>
      <p:sp>
        <p:nvSpPr>
          <p:cNvPr id="4" name="Shape 2"/>
          <p:cNvSpPr/>
          <p:nvPr/>
        </p:nvSpPr>
        <p:spPr>
          <a:xfrm>
            <a:off x="3977640" y="1600200"/>
            <a:ext cx="3703320" cy="502920"/>
          </a:xfrm>
          <a:prstGeom prst="roundRect">
            <a:avLst>
              <a:gd name="adj" fmla="val 10909"/>
            </a:avLst>
          </a:prstGeom>
          <a:solidFill>
            <a:srgbClr val="163341"/>
          </a:solidFill>
          <a:ln/>
        </p:spPr>
      </p:sp>
      <p:sp>
        <p:nvSpPr>
          <p:cNvPr id="5" name="Shape 3"/>
          <p:cNvSpPr/>
          <p:nvPr/>
        </p:nvSpPr>
        <p:spPr>
          <a:xfrm>
            <a:off x="7772400" y="1600200"/>
            <a:ext cx="3776472" cy="502920"/>
          </a:xfrm>
          <a:prstGeom prst="roundRect">
            <a:avLst>
              <a:gd name="adj" fmla="val 10909"/>
            </a:avLst>
          </a:prstGeom>
          <a:solidFill>
            <a:srgbClr val="FF4438"/>
          </a:solidFill>
          <a:ln/>
        </p:spPr>
      </p:sp>
      <p:sp>
        <p:nvSpPr>
          <p:cNvPr id="6" name="Text 4"/>
          <p:cNvSpPr/>
          <p:nvPr/>
        </p:nvSpPr>
        <p:spPr>
          <a:xfrm>
            <a:off x="4114800" y="1600200"/>
            <a:ext cx="3429000" cy="5029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Querying PI Web API directly</a:t>
            </a:r>
            <a:endParaRPr lang="en-US" sz="1350" dirty="0"/>
          </a:p>
        </p:txBody>
      </p:sp>
      <p:sp>
        <p:nvSpPr>
          <p:cNvPr id="7" name="Text 5"/>
          <p:cNvSpPr/>
          <p:nvPr/>
        </p:nvSpPr>
        <p:spPr>
          <a:xfrm>
            <a:off x="7909560" y="1600200"/>
            <a:ext cx="3502152" cy="5029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Serving via Redis</a:t>
            </a:r>
            <a:endParaRPr lang="en-US" sz="1350" dirty="0"/>
          </a:p>
        </p:txBody>
      </p:sp>
      <p:sp>
        <p:nvSpPr>
          <p:cNvPr id="8" name="Shape 6"/>
          <p:cNvSpPr/>
          <p:nvPr/>
        </p:nvSpPr>
        <p:spPr>
          <a:xfrm>
            <a:off x="640080" y="2194560"/>
            <a:ext cx="10908792" cy="566928"/>
          </a:xfrm>
          <a:prstGeom prst="rect">
            <a:avLst/>
          </a:prstGeom>
          <a:solidFill>
            <a:srgbClr val="EEF2F4"/>
          </a:solidFill>
          <a:ln/>
        </p:spPr>
      </p:sp>
      <p:sp>
        <p:nvSpPr>
          <p:cNvPr id="9" name="Shape 7"/>
          <p:cNvSpPr/>
          <p:nvPr/>
        </p:nvSpPr>
        <p:spPr>
          <a:xfrm>
            <a:off x="7772400" y="2194560"/>
            <a:ext cx="3776472" cy="566928"/>
          </a:xfrm>
          <a:prstGeom prst="rect">
            <a:avLst/>
          </a:prstGeom>
          <a:solidFill>
            <a:srgbClr val="FFF1F0"/>
          </a:solidFill>
          <a:ln/>
        </p:spPr>
      </p:sp>
      <p:sp>
        <p:nvSpPr>
          <p:cNvPr id="10" name="Text 8"/>
          <p:cNvSpPr/>
          <p:nvPr/>
        </p:nvSpPr>
        <p:spPr>
          <a:xfrm>
            <a:off x="731520" y="2194560"/>
            <a:ext cx="3063240" cy="566928"/>
          </a:xfrm>
          <a:prstGeom prst="rect">
            <a:avLst/>
          </a:prstGeom>
          <a:noFill/>
          <a:ln/>
        </p:spPr>
        <p:txBody>
          <a:bodyPr wrap="square" lIns="0" tIns="0" rIns="0" bIns="0" rtlCol="0" anchor="ctr"/>
          <a:lstStyle/>
          <a:p>
            <a:pPr indent="0" marL="0">
              <a:buNone/>
            </a:pPr>
            <a:r>
              <a:rPr lang="en-US" sz="1300" b="1" dirty="0">
                <a:solidFill>
                  <a:srgbClr val="163341"/>
                </a:solidFill>
                <a:latin typeface="Calibri" pitchFamily="34" charset="0"/>
                <a:ea typeface="Calibri" pitchFamily="34" charset="-122"/>
                <a:cs typeface="Calibri" pitchFamily="34" charset="-120"/>
              </a:rPr>
              <a:t>Read latency</a:t>
            </a:r>
            <a:endParaRPr lang="en-US" sz="1300" dirty="0"/>
          </a:p>
        </p:txBody>
      </p:sp>
      <p:sp>
        <p:nvSpPr>
          <p:cNvPr id="11" name="Text 9"/>
          <p:cNvSpPr/>
          <p:nvPr/>
        </p:nvSpPr>
        <p:spPr>
          <a:xfrm>
            <a:off x="4114800" y="2194560"/>
            <a:ext cx="3429000" cy="566928"/>
          </a:xfrm>
          <a:prstGeom prst="rect">
            <a:avLst/>
          </a:prstGeom>
          <a:noFill/>
          <a:ln/>
        </p:spPr>
        <p:txBody>
          <a:bodyPr wrap="square" lIns="0" tIns="0" rIns="0" bIns="0" rtlCol="0" anchor="ctr"/>
          <a:lstStyle/>
          <a:p>
            <a:pPr indent="0" marL="0">
              <a:buNone/>
            </a:pPr>
            <a:r>
              <a:rPr lang="en-US" sz="1250" dirty="0">
                <a:solidFill>
                  <a:srgbClr val="5C6B73"/>
                </a:solidFill>
                <a:latin typeface="Calibri" pitchFamily="34" charset="0"/>
                <a:ea typeface="Calibri" pitchFamily="34" charset="-122"/>
                <a:cs typeface="Calibri" pitchFamily="34" charset="-120"/>
              </a:rPr>
              <a:t>Per-request REST call</a:t>
            </a:r>
            <a:endParaRPr lang="en-US" sz="1250" dirty="0"/>
          </a:p>
        </p:txBody>
      </p:sp>
      <p:sp>
        <p:nvSpPr>
          <p:cNvPr id="12" name="Text 10"/>
          <p:cNvSpPr/>
          <p:nvPr/>
        </p:nvSpPr>
        <p:spPr>
          <a:xfrm>
            <a:off x="7909560" y="2194560"/>
            <a:ext cx="3502152" cy="566928"/>
          </a:xfrm>
          <a:prstGeom prst="rect">
            <a:avLst/>
          </a:prstGeom>
          <a:noFill/>
          <a:ln/>
        </p:spPr>
        <p:txBody>
          <a:bodyPr wrap="square" lIns="0" tIns="0" rIns="0" bIns="0" rtlCol="0" anchor="ctr"/>
          <a:lstStyle/>
          <a:p>
            <a:pPr indent="0" marL="0">
              <a:buNone/>
            </a:pPr>
            <a:r>
              <a:rPr lang="en-US" sz="1250" b="1" dirty="0">
                <a:solidFill>
                  <a:srgbClr val="9E241B"/>
                </a:solidFill>
                <a:latin typeface="Calibri" pitchFamily="34" charset="0"/>
                <a:ea typeface="Calibri" pitchFamily="34" charset="-122"/>
                <a:cs typeface="Calibri" pitchFamily="34" charset="-120"/>
              </a:rPr>
              <a:t>Sub-millisecond, in-memory</a:t>
            </a:r>
            <a:endParaRPr lang="en-US" sz="1250" dirty="0"/>
          </a:p>
        </p:txBody>
      </p:sp>
      <p:sp>
        <p:nvSpPr>
          <p:cNvPr id="13" name="Shape 11"/>
          <p:cNvSpPr/>
          <p:nvPr/>
        </p:nvSpPr>
        <p:spPr>
          <a:xfrm>
            <a:off x="7772400" y="2761488"/>
            <a:ext cx="3776472" cy="566928"/>
          </a:xfrm>
          <a:prstGeom prst="rect">
            <a:avLst/>
          </a:prstGeom>
          <a:solidFill>
            <a:srgbClr val="FFF1F0"/>
          </a:solidFill>
          <a:ln/>
        </p:spPr>
      </p:sp>
      <p:sp>
        <p:nvSpPr>
          <p:cNvPr id="14" name="Text 12"/>
          <p:cNvSpPr/>
          <p:nvPr/>
        </p:nvSpPr>
        <p:spPr>
          <a:xfrm>
            <a:off x="731520" y="2761488"/>
            <a:ext cx="3063240" cy="566928"/>
          </a:xfrm>
          <a:prstGeom prst="rect">
            <a:avLst/>
          </a:prstGeom>
          <a:noFill/>
          <a:ln/>
        </p:spPr>
        <p:txBody>
          <a:bodyPr wrap="square" lIns="0" tIns="0" rIns="0" bIns="0" rtlCol="0" anchor="ctr"/>
          <a:lstStyle/>
          <a:p>
            <a:pPr indent="0" marL="0">
              <a:buNone/>
            </a:pPr>
            <a:r>
              <a:rPr lang="en-US" sz="1300" b="1" dirty="0">
                <a:solidFill>
                  <a:srgbClr val="163341"/>
                </a:solidFill>
                <a:latin typeface="Calibri" pitchFamily="34" charset="0"/>
                <a:ea typeface="Calibri" pitchFamily="34" charset="-122"/>
                <a:cs typeface="Calibri" pitchFamily="34" charset="-120"/>
              </a:rPr>
              <a:t>Concurrent app clients</a:t>
            </a:r>
            <a:endParaRPr lang="en-US" sz="1300" dirty="0"/>
          </a:p>
        </p:txBody>
      </p:sp>
      <p:sp>
        <p:nvSpPr>
          <p:cNvPr id="15" name="Text 13"/>
          <p:cNvSpPr/>
          <p:nvPr/>
        </p:nvSpPr>
        <p:spPr>
          <a:xfrm>
            <a:off x="4114800" y="2761488"/>
            <a:ext cx="3429000" cy="566928"/>
          </a:xfrm>
          <a:prstGeom prst="rect">
            <a:avLst/>
          </a:prstGeom>
          <a:noFill/>
          <a:ln/>
        </p:spPr>
        <p:txBody>
          <a:bodyPr wrap="square" lIns="0" tIns="0" rIns="0" bIns="0" rtlCol="0" anchor="ctr"/>
          <a:lstStyle/>
          <a:p>
            <a:pPr indent="0" marL="0">
              <a:buNone/>
            </a:pPr>
            <a:r>
              <a:rPr lang="en-US" sz="1250" dirty="0">
                <a:solidFill>
                  <a:srgbClr val="5C6B73"/>
                </a:solidFill>
                <a:latin typeface="Calibri" pitchFamily="34" charset="0"/>
                <a:ea typeface="Calibri" pitchFamily="34" charset="-122"/>
                <a:cs typeface="Calibri" pitchFamily="34" charset="-120"/>
              </a:rPr>
              <a:t>Limited — load lands on PI</a:t>
            </a:r>
            <a:endParaRPr lang="en-US" sz="1250" dirty="0"/>
          </a:p>
        </p:txBody>
      </p:sp>
      <p:sp>
        <p:nvSpPr>
          <p:cNvPr id="16" name="Text 14"/>
          <p:cNvSpPr/>
          <p:nvPr/>
        </p:nvSpPr>
        <p:spPr>
          <a:xfrm>
            <a:off x="7909560" y="2761488"/>
            <a:ext cx="3502152" cy="566928"/>
          </a:xfrm>
          <a:prstGeom prst="rect">
            <a:avLst/>
          </a:prstGeom>
          <a:noFill/>
          <a:ln/>
        </p:spPr>
        <p:txBody>
          <a:bodyPr wrap="square" lIns="0" tIns="0" rIns="0" bIns="0" rtlCol="0" anchor="ctr"/>
          <a:lstStyle/>
          <a:p>
            <a:pPr indent="0" marL="0">
              <a:buNone/>
            </a:pPr>
            <a:r>
              <a:rPr lang="en-US" sz="1250" b="1" dirty="0">
                <a:solidFill>
                  <a:srgbClr val="9E241B"/>
                </a:solidFill>
                <a:latin typeface="Calibri" pitchFamily="34" charset="0"/>
                <a:ea typeface="Calibri" pitchFamily="34" charset="-122"/>
                <a:cs typeface="Calibri" pitchFamily="34" charset="-120"/>
              </a:rPr>
              <a:t>Thousands, scaled via replicas</a:t>
            </a:r>
            <a:endParaRPr lang="en-US" sz="1250" dirty="0"/>
          </a:p>
        </p:txBody>
      </p:sp>
      <p:sp>
        <p:nvSpPr>
          <p:cNvPr id="17" name="Shape 15"/>
          <p:cNvSpPr/>
          <p:nvPr/>
        </p:nvSpPr>
        <p:spPr>
          <a:xfrm>
            <a:off x="640080" y="3328416"/>
            <a:ext cx="10908792" cy="566928"/>
          </a:xfrm>
          <a:prstGeom prst="rect">
            <a:avLst/>
          </a:prstGeom>
          <a:solidFill>
            <a:srgbClr val="EEF2F4"/>
          </a:solidFill>
          <a:ln/>
        </p:spPr>
      </p:sp>
      <p:sp>
        <p:nvSpPr>
          <p:cNvPr id="18" name="Shape 16"/>
          <p:cNvSpPr/>
          <p:nvPr/>
        </p:nvSpPr>
        <p:spPr>
          <a:xfrm>
            <a:off x="7772400" y="3328416"/>
            <a:ext cx="3776472" cy="566928"/>
          </a:xfrm>
          <a:prstGeom prst="rect">
            <a:avLst/>
          </a:prstGeom>
          <a:solidFill>
            <a:srgbClr val="FFF1F0"/>
          </a:solidFill>
          <a:ln/>
        </p:spPr>
      </p:sp>
      <p:sp>
        <p:nvSpPr>
          <p:cNvPr id="19" name="Text 17"/>
          <p:cNvSpPr/>
          <p:nvPr/>
        </p:nvSpPr>
        <p:spPr>
          <a:xfrm>
            <a:off x="731520" y="3328416"/>
            <a:ext cx="3063240" cy="566928"/>
          </a:xfrm>
          <a:prstGeom prst="rect">
            <a:avLst/>
          </a:prstGeom>
          <a:noFill/>
          <a:ln/>
        </p:spPr>
        <p:txBody>
          <a:bodyPr wrap="square" lIns="0" tIns="0" rIns="0" bIns="0" rtlCol="0" anchor="ctr"/>
          <a:lstStyle/>
          <a:p>
            <a:pPr indent="0" marL="0">
              <a:buNone/>
            </a:pPr>
            <a:r>
              <a:rPr lang="en-US" sz="1300" b="1" dirty="0">
                <a:solidFill>
                  <a:srgbClr val="163341"/>
                </a:solidFill>
                <a:latin typeface="Calibri" pitchFamily="34" charset="0"/>
                <a:ea typeface="Calibri" pitchFamily="34" charset="-122"/>
                <a:cs typeface="Calibri" pitchFamily="34" charset="-120"/>
              </a:rPr>
              <a:t>Real-time delivery</a:t>
            </a:r>
            <a:endParaRPr lang="en-US" sz="1300" dirty="0"/>
          </a:p>
        </p:txBody>
      </p:sp>
      <p:sp>
        <p:nvSpPr>
          <p:cNvPr id="20" name="Text 18"/>
          <p:cNvSpPr/>
          <p:nvPr/>
        </p:nvSpPr>
        <p:spPr>
          <a:xfrm>
            <a:off x="4114800" y="3328416"/>
            <a:ext cx="3429000" cy="566928"/>
          </a:xfrm>
          <a:prstGeom prst="rect">
            <a:avLst/>
          </a:prstGeom>
          <a:noFill/>
          <a:ln/>
        </p:spPr>
        <p:txBody>
          <a:bodyPr wrap="square" lIns="0" tIns="0" rIns="0" bIns="0" rtlCol="0" anchor="ctr"/>
          <a:lstStyle/>
          <a:p>
            <a:pPr indent="0" marL="0">
              <a:buNone/>
            </a:pPr>
            <a:r>
              <a:rPr lang="en-US" sz="1250" dirty="0">
                <a:solidFill>
                  <a:srgbClr val="5C6B73"/>
                </a:solidFill>
                <a:latin typeface="Calibri" pitchFamily="34" charset="0"/>
                <a:ea typeface="Calibri" pitchFamily="34" charset="-122"/>
                <a:cs typeface="Calibri" pitchFamily="34" charset="-120"/>
              </a:rPr>
              <a:t>Poll / channel subscriptions</a:t>
            </a:r>
            <a:endParaRPr lang="en-US" sz="1250" dirty="0"/>
          </a:p>
        </p:txBody>
      </p:sp>
      <p:sp>
        <p:nvSpPr>
          <p:cNvPr id="21" name="Text 19"/>
          <p:cNvSpPr/>
          <p:nvPr/>
        </p:nvSpPr>
        <p:spPr>
          <a:xfrm>
            <a:off x="7909560" y="3328416"/>
            <a:ext cx="3502152" cy="566928"/>
          </a:xfrm>
          <a:prstGeom prst="rect">
            <a:avLst/>
          </a:prstGeom>
          <a:noFill/>
          <a:ln/>
        </p:spPr>
        <p:txBody>
          <a:bodyPr wrap="square" lIns="0" tIns="0" rIns="0" bIns="0" rtlCol="0" anchor="ctr"/>
          <a:lstStyle/>
          <a:p>
            <a:pPr indent="0" marL="0">
              <a:buNone/>
            </a:pPr>
            <a:r>
              <a:rPr lang="en-US" sz="1250" b="1" dirty="0">
                <a:solidFill>
                  <a:srgbClr val="9E241B"/>
                </a:solidFill>
                <a:latin typeface="Calibri" pitchFamily="34" charset="0"/>
                <a:ea typeface="Calibri" pitchFamily="34" charset="-122"/>
                <a:cs typeface="Calibri" pitchFamily="34" charset="-120"/>
              </a:rPr>
              <a:t>Native Pub/Sub &amp; Streams push</a:t>
            </a:r>
            <a:endParaRPr lang="en-US" sz="1250" dirty="0"/>
          </a:p>
        </p:txBody>
      </p:sp>
      <p:sp>
        <p:nvSpPr>
          <p:cNvPr id="22" name="Shape 20"/>
          <p:cNvSpPr/>
          <p:nvPr/>
        </p:nvSpPr>
        <p:spPr>
          <a:xfrm>
            <a:off x="7772400" y="3895344"/>
            <a:ext cx="3776472" cy="566928"/>
          </a:xfrm>
          <a:prstGeom prst="rect">
            <a:avLst/>
          </a:prstGeom>
          <a:solidFill>
            <a:srgbClr val="FFF1F0"/>
          </a:solidFill>
          <a:ln/>
        </p:spPr>
      </p:sp>
      <p:sp>
        <p:nvSpPr>
          <p:cNvPr id="23" name="Text 21"/>
          <p:cNvSpPr/>
          <p:nvPr/>
        </p:nvSpPr>
        <p:spPr>
          <a:xfrm>
            <a:off x="731520" y="3895344"/>
            <a:ext cx="3063240" cy="566928"/>
          </a:xfrm>
          <a:prstGeom prst="rect">
            <a:avLst/>
          </a:prstGeom>
          <a:noFill/>
          <a:ln/>
        </p:spPr>
        <p:txBody>
          <a:bodyPr wrap="square" lIns="0" tIns="0" rIns="0" bIns="0" rtlCol="0" anchor="ctr"/>
          <a:lstStyle/>
          <a:p>
            <a:pPr indent="0" marL="0">
              <a:buNone/>
            </a:pPr>
            <a:r>
              <a:rPr lang="en-US" sz="1300" b="1" dirty="0">
                <a:solidFill>
                  <a:srgbClr val="163341"/>
                </a:solidFill>
                <a:latin typeface="Calibri" pitchFamily="34" charset="0"/>
                <a:ea typeface="Calibri" pitchFamily="34" charset="-122"/>
                <a:cs typeface="Calibri" pitchFamily="34" charset="-120"/>
              </a:rPr>
              <a:t>Data models</a:t>
            </a:r>
            <a:endParaRPr lang="en-US" sz="1300" dirty="0"/>
          </a:p>
        </p:txBody>
      </p:sp>
      <p:sp>
        <p:nvSpPr>
          <p:cNvPr id="24" name="Text 22"/>
          <p:cNvSpPr/>
          <p:nvPr/>
        </p:nvSpPr>
        <p:spPr>
          <a:xfrm>
            <a:off x="4114800" y="3895344"/>
            <a:ext cx="3429000" cy="566928"/>
          </a:xfrm>
          <a:prstGeom prst="rect">
            <a:avLst/>
          </a:prstGeom>
          <a:noFill/>
          <a:ln/>
        </p:spPr>
        <p:txBody>
          <a:bodyPr wrap="square" lIns="0" tIns="0" rIns="0" bIns="0" rtlCol="0" anchor="ctr"/>
          <a:lstStyle/>
          <a:p>
            <a:pPr indent="0" marL="0">
              <a:buNone/>
            </a:pPr>
            <a:r>
              <a:rPr lang="en-US" sz="1250" dirty="0">
                <a:solidFill>
                  <a:srgbClr val="5C6B73"/>
                </a:solidFill>
                <a:latin typeface="Calibri" pitchFamily="34" charset="0"/>
                <a:ea typeface="Calibri" pitchFamily="34" charset="-122"/>
                <a:cs typeface="Calibri" pitchFamily="34" charset="-120"/>
              </a:rPr>
              <a:t>Time-series (OT-specific)</a:t>
            </a:r>
            <a:endParaRPr lang="en-US" sz="1250" dirty="0"/>
          </a:p>
        </p:txBody>
      </p:sp>
      <p:sp>
        <p:nvSpPr>
          <p:cNvPr id="25" name="Text 23"/>
          <p:cNvSpPr/>
          <p:nvPr/>
        </p:nvSpPr>
        <p:spPr>
          <a:xfrm>
            <a:off x="7909560" y="3895344"/>
            <a:ext cx="3502152" cy="566928"/>
          </a:xfrm>
          <a:prstGeom prst="rect">
            <a:avLst/>
          </a:prstGeom>
          <a:noFill/>
          <a:ln/>
        </p:spPr>
        <p:txBody>
          <a:bodyPr wrap="square" lIns="0" tIns="0" rIns="0" bIns="0" rtlCol="0" anchor="ctr"/>
          <a:lstStyle/>
          <a:p>
            <a:pPr indent="0" marL="0">
              <a:buNone/>
            </a:pPr>
            <a:r>
              <a:rPr lang="en-US" sz="1250" b="1" dirty="0">
                <a:solidFill>
                  <a:srgbClr val="9E241B"/>
                </a:solidFill>
                <a:latin typeface="Calibri" pitchFamily="34" charset="0"/>
                <a:ea typeface="Calibri" pitchFamily="34" charset="-122"/>
                <a:cs typeface="Calibri" pitchFamily="34" charset="-120"/>
              </a:rPr>
              <a:t>TimeSeries + JSON + Search + Vector</a:t>
            </a:r>
            <a:endParaRPr lang="en-US" sz="1250" dirty="0"/>
          </a:p>
        </p:txBody>
      </p:sp>
      <p:sp>
        <p:nvSpPr>
          <p:cNvPr id="26" name="Shape 24"/>
          <p:cNvSpPr/>
          <p:nvPr/>
        </p:nvSpPr>
        <p:spPr>
          <a:xfrm>
            <a:off x="640080" y="4462272"/>
            <a:ext cx="10908792" cy="566928"/>
          </a:xfrm>
          <a:prstGeom prst="rect">
            <a:avLst/>
          </a:prstGeom>
          <a:solidFill>
            <a:srgbClr val="EEF2F4"/>
          </a:solidFill>
          <a:ln/>
        </p:spPr>
      </p:sp>
      <p:sp>
        <p:nvSpPr>
          <p:cNvPr id="27" name="Shape 25"/>
          <p:cNvSpPr/>
          <p:nvPr/>
        </p:nvSpPr>
        <p:spPr>
          <a:xfrm>
            <a:off x="7772400" y="4462272"/>
            <a:ext cx="3776472" cy="566928"/>
          </a:xfrm>
          <a:prstGeom prst="rect">
            <a:avLst/>
          </a:prstGeom>
          <a:solidFill>
            <a:srgbClr val="FFF1F0"/>
          </a:solidFill>
          <a:ln/>
        </p:spPr>
      </p:sp>
      <p:sp>
        <p:nvSpPr>
          <p:cNvPr id="28" name="Text 26"/>
          <p:cNvSpPr/>
          <p:nvPr/>
        </p:nvSpPr>
        <p:spPr>
          <a:xfrm>
            <a:off x="731520" y="4462272"/>
            <a:ext cx="3063240" cy="566928"/>
          </a:xfrm>
          <a:prstGeom prst="rect">
            <a:avLst/>
          </a:prstGeom>
          <a:noFill/>
          <a:ln/>
        </p:spPr>
        <p:txBody>
          <a:bodyPr wrap="square" lIns="0" tIns="0" rIns="0" bIns="0" rtlCol="0" anchor="ctr"/>
          <a:lstStyle/>
          <a:p>
            <a:pPr indent="0" marL="0">
              <a:buNone/>
            </a:pPr>
            <a:r>
              <a:rPr lang="en-US" sz="1300" b="1" dirty="0">
                <a:solidFill>
                  <a:srgbClr val="163341"/>
                </a:solidFill>
                <a:latin typeface="Calibri" pitchFamily="34" charset="0"/>
                <a:ea typeface="Calibri" pitchFamily="34" charset="-122"/>
                <a:cs typeface="Calibri" pitchFamily="34" charset="-120"/>
              </a:rPr>
              <a:t>Load on OT systems</a:t>
            </a:r>
            <a:endParaRPr lang="en-US" sz="1300" dirty="0"/>
          </a:p>
        </p:txBody>
      </p:sp>
      <p:sp>
        <p:nvSpPr>
          <p:cNvPr id="29" name="Text 27"/>
          <p:cNvSpPr/>
          <p:nvPr/>
        </p:nvSpPr>
        <p:spPr>
          <a:xfrm>
            <a:off x="4114800" y="4462272"/>
            <a:ext cx="3429000" cy="566928"/>
          </a:xfrm>
          <a:prstGeom prst="rect">
            <a:avLst/>
          </a:prstGeom>
          <a:noFill/>
          <a:ln/>
        </p:spPr>
        <p:txBody>
          <a:bodyPr wrap="square" lIns="0" tIns="0" rIns="0" bIns="0" rtlCol="0" anchor="ctr"/>
          <a:lstStyle/>
          <a:p>
            <a:pPr indent="0" marL="0">
              <a:buNone/>
            </a:pPr>
            <a:r>
              <a:rPr lang="en-US" sz="1250" dirty="0">
                <a:solidFill>
                  <a:srgbClr val="5C6B73"/>
                </a:solidFill>
                <a:latin typeface="Calibri" pitchFamily="34" charset="0"/>
                <a:ea typeface="Calibri" pitchFamily="34" charset="-122"/>
                <a:cs typeface="Calibri" pitchFamily="34" charset="-120"/>
              </a:rPr>
              <a:t>Every query taxes the historian</a:t>
            </a:r>
            <a:endParaRPr lang="en-US" sz="1250" dirty="0"/>
          </a:p>
        </p:txBody>
      </p:sp>
      <p:sp>
        <p:nvSpPr>
          <p:cNvPr id="30" name="Text 28"/>
          <p:cNvSpPr/>
          <p:nvPr/>
        </p:nvSpPr>
        <p:spPr>
          <a:xfrm>
            <a:off x="7909560" y="4462272"/>
            <a:ext cx="3502152" cy="566928"/>
          </a:xfrm>
          <a:prstGeom prst="rect">
            <a:avLst/>
          </a:prstGeom>
          <a:noFill/>
          <a:ln/>
        </p:spPr>
        <p:txBody>
          <a:bodyPr wrap="square" lIns="0" tIns="0" rIns="0" bIns="0" rtlCol="0" anchor="ctr"/>
          <a:lstStyle/>
          <a:p>
            <a:pPr indent="0" marL="0">
              <a:buNone/>
            </a:pPr>
            <a:r>
              <a:rPr lang="en-US" sz="1250" b="1" dirty="0">
                <a:solidFill>
                  <a:srgbClr val="9E241B"/>
                </a:solidFill>
                <a:latin typeface="Calibri" pitchFamily="34" charset="0"/>
                <a:ea typeface="Calibri" pitchFamily="34" charset="-122"/>
                <a:cs typeface="Calibri" pitchFamily="34" charset="-120"/>
              </a:rPr>
              <a:t>Apps hit Redis; PI stays protected</a:t>
            </a:r>
            <a:endParaRPr lang="en-US" sz="1250" dirty="0"/>
          </a:p>
        </p:txBody>
      </p:sp>
      <p:sp>
        <p:nvSpPr>
          <p:cNvPr id="31" name="Shape 29"/>
          <p:cNvSpPr/>
          <p:nvPr/>
        </p:nvSpPr>
        <p:spPr>
          <a:xfrm>
            <a:off x="7772400" y="5029200"/>
            <a:ext cx="3776472" cy="566928"/>
          </a:xfrm>
          <a:prstGeom prst="rect">
            <a:avLst/>
          </a:prstGeom>
          <a:solidFill>
            <a:srgbClr val="FFF1F0"/>
          </a:solidFill>
          <a:ln/>
        </p:spPr>
      </p:sp>
      <p:sp>
        <p:nvSpPr>
          <p:cNvPr id="32" name="Text 30"/>
          <p:cNvSpPr/>
          <p:nvPr/>
        </p:nvSpPr>
        <p:spPr>
          <a:xfrm>
            <a:off x="731520" y="5029200"/>
            <a:ext cx="3063240" cy="566928"/>
          </a:xfrm>
          <a:prstGeom prst="rect">
            <a:avLst/>
          </a:prstGeom>
          <a:noFill/>
          <a:ln/>
        </p:spPr>
        <p:txBody>
          <a:bodyPr wrap="square" lIns="0" tIns="0" rIns="0" bIns="0" rtlCol="0" anchor="ctr"/>
          <a:lstStyle/>
          <a:p>
            <a:pPr indent="0" marL="0">
              <a:buNone/>
            </a:pPr>
            <a:r>
              <a:rPr lang="en-US" sz="1300" b="1" dirty="0">
                <a:solidFill>
                  <a:srgbClr val="163341"/>
                </a:solidFill>
                <a:latin typeface="Calibri" pitchFamily="34" charset="0"/>
                <a:ea typeface="Calibri" pitchFamily="34" charset="-122"/>
                <a:cs typeface="Calibri" pitchFamily="34" charset="-120"/>
              </a:rPr>
              <a:t>Scaling &amp; deployment</a:t>
            </a:r>
            <a:endParaRPr lang="en-US" sz="1300" dirty="0"/>
          </a:p>
        </p:txBody>
      </p:sp>
      <p:sp>
        <p:nvSpPr>
          <p:cNvPr id="33" name="Text 31"/>
          <p:cNvSpPr/>
          <p:nvPr/>
        </p:nvSpPr>
        <p:spPr>
          <a:xfrm>
            <a:off x="4114800" y="5029200"/>
            <a:ext cx="3429000" cy="566928"/>
          </a:xfrm>
          <a:prstGeom prst="rect">
            <a:avLst/>
          </a:prstGeom>
          <a:noFill/>
          <a:ln/>
        </p:spPr>
        <p:txBody>
          <a:bodyPr wrap="square" lIns="0" tIns="0" rIns="0" bIns="0" rtlCol="0" anchor="ctr"/>
          <a:lstStyle/>
          <a:p>
            <a:pPr indent="0" marL="0">
              <a:buNone/>
            </a:pPr>
            <a:r>
              <a:rPr lang="en-US" sz="1250" dirty="0">
                <a:solidFill>
                  <a:srgbClr val="5C6B73"/>
                </a:solidFill>
                <a:latin typeface="Calibri" pitchFamily="34" charset="0"/>
                <a:ea typeface="Calibri" pitchFamily="34" charset="-122"/>
                <a:cs typeface="Calibri" pitchFamily="34" charset="-120"/>
              </a:rPr>
              <a:t>Vertical; OT-licensed</a:t>
            </a:r>
            <a:endParaRPr lang="en-US" sz="1250" dirty="0"/>
          </a:p>
        </p:txBody>
      </p:sp>
      <p:sp>
        <p:nvSpPr>
          <p:cNvPr id="34" name="Text 32"/>
          <p:cNvSpPr/>
          <p:nvPr/>
        </p:nvSpPr>
        <p:spPr>
          <a:xfrm>
            <a:off x="7909560" y="5029200"/>
            <a:ext cx="3502152" cy="566928"/>
          </a:xfrm>
          <a:prstGeom prst="rect">
            <a:avLst/>
          </a:prstGeom>
          <a:noFill/>
          <a:ln/>
        </p:spPr>
        <p:txBody>
          <a:bodyPr wrap="square" lIns="0" tIns="0" rIns="0" bIns="0" rtlCol="0" anchor="ctr"/>
          <a:lstStyle/>
          <a:p>
            <a:pPr indent="0" marL="0">
              <a:buNone/>
            </a:pPr>
            <a:r>
              <a:rPr lang="en-US" sz="1250" b="1" dirty="0">
                <a:solidFill>
                  <a:srgbClr val="9E241B"/>
                </a:solidFill>
                <a:latin typeface="Calibri" pitchFamily="34" charset="0"/>
                <a:ea typeface="Calibri" pitchFamily="34" charset="-122"/>
                <a:cs typeface="Calibri" pitchFamily="34" charset="-120"/>
              </a:rPr>
              <a:t>Horizontal, cloud-native, managed</a:t>
            </a:r>
            <a:endParaRPr lang="en-US" sz="1250" dirty="0"/>
          </a:p>
        </p:txBody>
      </p:sp>
      <p:sp>
        <p:nvSpPr>
          <p:cNvPr id="35" name="Shape 33"/>
          <p:cNvSpPr/>
          <p:nvPr/>
        </p:nvSpPr>
        <p:spPr>
          <a:xfrm>
            <a:off x="640080" y="5760720"/>
            <a:ext cx="10908792" cy="603504"/>
          </a:xfrm>
          <a:prstGeom prst="roundRect">
            <a:avLst>
              <a:gd name="adj" fmla="val 12121"/>
            </a:avLst>
          </a:prstGeom>
          <a:solidFill>
            <a:srgbClr val="091A23"/>
          </a:solidFill>
          <a:ln/>
        </p:spPr>
      </p:sp>
      <p:sp>
        <p:nvSpPr>
          <p:cNvPr id="36" name="Text 34"/>
          <p:cNvSpPr/>
          <p:nvPr/>
        </p:nvSpPr>
        <p:spPr>
          <a:xfrm>
            <a:off x="868680" y="5760720"/>
            <a:ext cx="10424160" cy="603504"/>
          </a:xfrm>
          <a:prstGeom prst="rect">
            <a:avLst/>
          </a:prstGeom>
          <a:noFill/>
          <a:ln/>
        </p:spPr>
        <p:txBody>
          <a:bodyPr wrap="square" lIns="0" tIns="0" rIns="0" bIns="0" rtlCol="0" anchor="ctr"/>
          <a:lstStyle/>
          <a:p>
            <a:pPr indent="0" marL="0">
              <a:lnSpc>
                <a:spcPts val="1400"/>
              </a:lnSpc>
              <a:buNone/>
            </a:pPr>
            <a:r>
              <a:rPr lang="en-US" sz="1200" b="1" dirty="0">
                <a:solidFill>
                  <a:srgbClr val="FFFFFF"/>
                </a:solidFill>
                <a:latin typeface="Calibri" pitchFamily="34" charset="0"/>
                <a:ea typeface="Calibri" pitchFamily="34" charset="-122"/>
                <a:cs typeface="Calibri" pitchFamily="34" charset="-120"/>
              </a:rPr>
              <a:t>Complementary, not a replacement:  </a:t>
            </a:r>
            <a:pPr indent="0" marL="0">
              <a:lnSpc>
                <a:spcPts val="1400"/>
              </a:lnSpc>
              <a:buNone/>
            </a:pPr>
            <a:r>
              <a:rPr lang="en-US" sz="1200" dirty="0">
                <a:solidFill>
                  <a:srgbClr val="C6D2D7"/>
                </a:solidFill>
                <a:latin typeface="Calibri" pitchFamily="34" charset="0"/>
                <a:ea typeface="Calibri" pitchFamily="34" charset="-122"/>
                <a:cs typeface="Calibri" pitchFamily="34" charset="-120"/>
              </a:rPr>
              <a:t>PI remains the system of record and long-term historian; Redis is the low-latency serving and real-time layer in front of it.</a:t>
            </a:r>
            <a:endParaRPr lang="en-US" sz="1200" dirty="0"/>
          </a:p>
        </p:txBody>
      </p:sp>
      <p:sp>
        <p:nvSpPr>
          <p:cNvPr id="37" name="Text 35"/>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5C6B73"/>
                </a:solidFill>
                <a:latin typeface="Calibri" pitchFamily="34" charset="0"/>
                <a:ea typeface="Calibri" pitchFamily="34" charset="-122"/>
                <a:cs typeface="Calibri" pitchFamily="34" charset="-120"/>
              </a:rPr>
              <a:t>github.com/amitmknit/aveva-pi-redis-integration</a:t>
            </a:r>
            <a:endParaRPr lang="en-US" sz="900" dirty="0"/>
          </a:p>
        </p:txBody>
      </p:sp>
      <p:sp>
        <p:nvSpPr>
          <p:cNvPr id="38" name="Text 36"/>
          <p:cNvSpPr/>
          <p:nvPr/>
        </p:nvSpPr>
        <p:spPr>
          <a:xfrm>
            <a:off x="8028432" y="6473952"/>
            <a:ext cx="3657600" cy="274320"/>
          </a:xfrm>
          <a:prstGeom prst="rect">
            <a:avLst/>
          </a:prstGeom>
          <a:noFill/>
          <a:ln/>
        </p:spPr>
        <p:txBody>
          <a:bodyPr wrap="square" lIns="0" tIns="0" rIns="0" bIns="0" rtlCol="0" anchor="ctr"/>
          <a:lstStyle/>
          <a:p>
            <a:pPr algn="r" indent="0" marL="0">
              <a:buNone/>
            </a:pPr>
            <a:r>
              <a:rPr lang="en-US" sz="900" dirty="0">
                <a:solidFill>
                  <a:srgbClr val="5C6B73"/>
                </a:solidFill>
                <a:latin typeface="Calibri" pitchFamily="34" charset="0"/>
                <a:ea typeface="Calibri" pitchFamily="34" charset="-122"/>
                <a:cs typeface="Calibri" pitchFamily="34" charset="-120"/>
              </a:rPr>
              <a:t>Redis  ·  Proof of Concept</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9"/>
        </a:solidFill>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lIns="0" tIns="0" rIns="0" bIns="0" rtlCol="0" anchor="ctr"/>
          <a:lstStyle/>
          <a:p>
            <a:pPr indent="0" marL="0">
              <a:buNone/>
            </a:pPr>
            <a:r>
              <a:rPr lang="en-US" sz="1200" b="1" spc="300" kern="0" dirty="0">
                <a:solidFill>
                  <a:srgbClr val="FF4438"/>
                </a:solidFill>
                <a:latin typeface="Calibri" pitchFamily="34" charset="0"/>
                <a:ea typeface="Calibri" pitchFamily="34" charset="-122"/>
                <a:cs typeface="Calibri" pitchFamily="34" charset="-120"/>
              </a:rPr>
              <a:t>FROM POC TO PRODUCTION</a:t>
            </a:r>
            <a:endParaRPr lang="en-US" sz="1200" dirty="0"/>
          </a:p>
        </p:txBody>
      </p:sp>
      <p:sp>
        <p:nvSpPr>
          <p:cNvPr id="3" name="Text 1"/>
          <p:cNvSpPr/>
          <p:nvPr/>
        </p:nvSpPr>
        <p:spPr>
          <a:xfrm>
            <a:off x="640080" y="822960"/>
            <a:ext cx="10515600" cy="640080"/>
          </a:xfrm>
          <a:prstGeom prst="rect">
            <a:avLst/>
          </a:prstGeom>
          <a:noFill/>
          <a:ln/>
        </p:spPr>
        <p:txBody>
          <a:bodyPr wrap="square" lIns="0" tIns="0" rIns="0" bIns="0" rtlCol="0" anchor="ctr"/>
          <a:lstStyle/>
          <a:p>
            <a:pPr indent="0" marL="0">
              <a:buNone/>
            </a:pPr>
            <a:r>
              <a:rPr lang="en-US" sz="3200" b="1" dirty="0">
                <a:solidFill>
                  <a:srgbClr val="163341"/>
                </a:solidFill>
                <a:latin typeface="Cambria" pitchFamily="34" charset="0"/>
                <a:ea typeface="Cambria" pitchFamily="34" charset="-122"/>
                <a:cs typeface="Cambria" pitchFamily="34" charset="-120"/>
              </a:rPr>
              <a:t>What's done, what's next</a:t>
            </a:r>
            <a:endParaRPr lang="en-US" sz="3200" dirty="0"/>
          </a:p>
        </p:txBody>
      </p:sp>
      <p:sp>
        <p:nvSpPr>
          <p:cNvPr id="4" name="Shape 2"/>
          <p:cNvSpPr/>
          <p:nvPr/>
        </p:nvSpPr>
        <p:spPr>
          <a:xfrm>
            <a:off x="640080" y="1828800"/>
            <a:ext cx="5276088" cy="4206240"/>
          </a:xfrm>
          <a:prstGeom prst="roundRect">
            <a:avLst>
              <a:gd name="adj" fmla="val 1739"/>
            </a:avLst>
          </a:prstGeom>
          <a:solidFill>
            <a:srgbClr val="FFFFFF"/>
          </a:solidFill>
          <a:ln w="12700">
            <a:solidFill>
              <a:srgbClr val="D8E0E3"/>
            </a:solidFill>
            <a:prstDash val="solid"/>
          </a:ln>
          <a:effectLst>
            <a:outerShdw sx="100000" sy="100000" kx="0" ky="0" algn="bl" rotWithShape="0" blurRad="76200" dist="38100" dir="5400000">
              <a:srgbClr val="9AA7AD">
                <a:alpha val="35000"/>
              </a:srgbClr>
            </a:outerShdw>
          </a:effectLst>
        </p:spPr>
      </p:sp>
      <p:sp>
        <p:nvSpPr>
          <p:cNvPr id="5" name="Shape 3"/>
          <p:cNvSpPr/>
          <p:nvPr/>
        </p:nvSpPr>
        <p:spPr>
          <a:xfrm>
            <a:off x="640080" y="1828800"/>
            <a:ext cx="5276088" cy="777240"/>
          </a:xfrm>
          <a:prstGeom prst="roundRect">
            <a:avLst>
              <a:gd name="adj" fmla="val 9412"/>
            </a:avLst>
          </a:prstGeom>
          <a:solidFill>
            <a:srgbClr val="163341"/>
          </a:solidFill>
          <a:ln/>
        </p:spPr>
      </p:sp>
      <p:sp>
        <p:nvSpPr>
          <p:cNvPr id="6" name="Shape 4"/>
          <p:cNvSpPr/>
          <p:nvPr/>
        </p:nvSpPr>
        <p:spPr>
          <a:xfrm>
            <a:off x="640080" y="2240280"/>
            <a:ext cx="5276088" cy="365760"/>
          </a:xfrm>
          <a:prstGeom prst="rect">
            <a:avLst/>
          </a:prstGeom>
          <a:solidFill>
            <a:srgbClr val="163341"/>
          </a:solidFill>
          <a:ln/>
        </p:spPr>
      </p:sp>
      <p:sp>
        <p:nvSpPr>
          <p:cNvPr id="7" name="Text 5"/>
          <p:cNvSpPr/>
          <p:nvPr/>
        </p:nvSpPr>
        <p:spPr>
          <a:xfrm>
            <a:off x="914400" y="1828800"/>
            <a:ext cx="4754880" cy="7772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Shipped in this POC</a:t>
            </a:r>
            <a:endParaRPr lang="en-US" sz="1700" dirty="0"/>
          </a:p>
        </p:txBody>
      </p:sp>
      <p:sp>
        <p:nvSpPr>
          <p:cNvPr id="8" name="Text 6"/>
          <p:cNvSpPr/>
          <p:nvPr/>
        </p:nvSpPr>
        <p:spPr>
          <a:xfrm>
            <a:off x="932688" y="2788920"/>
            <a:ext cx="365760" cy="365760"/>
          </a:xfrm>
          <a:prstGeom prst="rect">
            <a:avLst/>
          </a:prstGeom>
          <a:noFill/>
          <a:ln/>
        </p:spPr>
        <p:txBody>
          <a:bodyPr wrap="square" lIns="0" tIns="0" rIns="0" bIns="0" rtlCol="0" anchor="ctr"/>
          <a:lstStyle/>
          <a:p>
            <a:pPr indent="0" marL="0">
              <a:buNone/>
            </a:pPr>
            <a:r>
              <a:rPr lang="en-US" sz="1400" b="1" dirty="0">
                <a:solidFill>
                  <a:srgbClr val="2F9E6B"/>
                </a:solidFill>
                <a:latin typeface="Calibri" pitchFamily="34" charset="0"/>
                <a:ea typeface="Calibri" pitchFamily="34" charset="-122"/>
                <a:cs typeface="Calibri" pitchFamily="34" charset="-120"/>
              </a:rPr>
              <a:t>✓</a:t>
            </a:r>
            <a:endParaRPr lang="en-US" sz="1400" dirty="0"/>
          </a:p>
        </p:txBody>
      </p:sp>
      <p:sp>
        <p:nvSpPr>
          <p:cNvPr id="9" name="Text 7"/>
          <p:cNvSpPr/>
          <p:nvPr/>
        </p:nvSpPr>
        <p:spPr>
          <a:xfrm>
            <a:off x="1325880" y="2770632"/>
            <a:ext cx="4343400" cy="502920"/>
          </a:xfrm>
          <a:prstGeom prst="rect">
            <a:avLst/>
          </a:prstGeom>
          <a:noFill/>
          <a:ln/>
        </p:spPr>
        <p:txBody>
          <a:bodyPr wrap="square" lIns="0" tIns="0" rIns="0" bIns="0" rtlCol="0" anchor="ctr"/>
          <a:lstStyle/>
          <a:p>
            <a:pPr indent="0" marL="0">
              <a:lnSpc>
                <a:spcPts val="1500"/>
              </a:lnSpc>
              <a:buNone/>
            </a:pPr>
            <a:r>
              <a:rPr lang="en-US" sz="1300" dirty="0">
                <a:solidFill>
                  <a:srgbClr val="163341"/>
                </a:solidFill>
                <a:latin typeface="Calibri" pitchFamily="34" charset="0"/>
                <a:ea typeface="Calibri" pitchFamily="34" charset="-122"/>
                <a:cs typeface="Calibri" pitchFamily="34" charset="-120"/>
              </a:rPr>
              <a:t>Recorded-value backfill</a:t>
            </a:r>
            <a:endParaRPr lang="en-US" sz="1300" dirty="0"/>
          </a:p>
        </p:txBody>
      </p:sp>
      <p:sp>
        <p:nvSpPr>
          <p:cNvPr id="10" name="Text 8"/>
          <p:cNvSpPr/>
          <p:nvPr/>
        </p:nvSpPr>
        <p:spPr>
          <a:xfrm>
            <a:off x="932688" y="3337560"/>
            <a:ext cx="365760" cy="365760"/>
          </a:xfrm>
          <a:prstGeom prst="rect">
            <a:avLst/>
          </a:prstGeom>
          <a:noFill/>
          <a:ln/>
        </p:spPr>
        <p:txBody>
          <a:bodyPr wrap="square" lIns="0" tIns="0" rIns="0" bIns="0" rtlCol="0" anchor="ctr"/>
          <a:lstStyle/>
          <a:p>
            <a:pPr indent="0" marL="0">
              <a:buNone/>
            </a:pPr>
            <a:r>
              <a:rPr lang="en-US" sz="1400" b="1" dirty="0">
                <a:solidFill>
                  <a:srgbClr val="2F9E6B"/>
                </a:solidFill>
                <a:latin typeface="Calibri" pitchFamily="34" charset="0"/>
                <a:ea typeface="Calibri" pitchFamily="34" charset="-122"/>
                <a:cs typeface="Calibri" pitchFamily="34" charset="-120"/>
              </a:rPr>
              <a:t>✓</a:t>
            </a:r>
            <a:endParaRPr lang="en-US" sz="1400" dirty="0"/>
          </a:p>
        </p:txBody>
      </p:sp>
      <p:sp>
        <p:nvSpPr>
          <p:cNvPr id="11" name="Text 9"/>
          <p:cNvSpPr/>
          <p:nvPr/>
        </p:nvSpPr>
        <p:spPr>
          <a:xfrm>
            <a:off x="1325880" y="3319272"/>
            <a:ext cx="4343400" cy="502920"/>
          </a:xfrm>
          <a:prstGeom prst="rect">
            <a:avLst/>
          </a:prstGeom>
          <a:noFill/>
          <a:ln/>
        </p:spPr>
        <p:txBody>
          <a:bodyPr wrap="square" lIns="0" tIns="0" rIns="0" bIns="0" rtlCol="0" anchor="ctr"/>
          <a:lstStyle/>
          <a:p>
            <a:pPr indent="0" marL="0">
              <a:lnSpc>
                <a:spcPts val="1500"/>
              </a:lnSpc>
              <a:buNone/>
            </a:pPr>
            <a:r>
              <a:rPr lang="en-US" sz="1300" dirty="0">
                <a:solidFill>
                  <a:srgbClr val="163341"/>
                </a:solidFill>
                <a:latin typeface="Calibri" pitchFamily="34" charset="0"/>
                <a:ea typeface="Calibri" pitchFamily="34" charset="-122"/>
                <a:cs typeface="Calibri" pitchFamily="34" charset="-120"/>
              </a:rPr>
              <a:t>Streamset batching (1 request/cycle)</a:t>
            </a:r>
            <a:endParaRPr lang="en-US" sz="1300" dirty="0"/>
          </a:p>
        </p:txBody>
      </p:sp>
      <p:sp>
        <p:nvSpPr>
          <p:cNvPr id="12" name="Text 10"/>
          <p:cNvSpPr/>
          <p:nvPr/>
        </p:nvSpPr>
        <p:spPr>
          <a:xfrm>
            <a:off x="932688" y="3886200"/>
            <a:ext cx="365760" cy="365760"/>
          </a:xfrm>
          <a:prstGeom prst="rect">
            <a:avLst/>
          </a:prstGeom>
          <a:noFill/>
          <a:ln/>
        </p:spPr>
        <p:txBody>
          <a:bodyPr wrap="square" lIns="0" tIns="0" rIns="0" bIns="0" rtlCol="0" anchor="ctr"/>
          <a:lstStyle/>
          <a:p>
            <a:pPr indent="0" marL="0">
              <a:buNone/>
            </a:pPr>
            <a:r>
              <a:rPr lang="en-US" sz="1400" b="1" dirty="0">
                <a:solidFill>
                  <a:srgbClr val="2F9E6B"/>
                </a:solidFill>
                <a:latin typeface="Calibri" pitchFamily="34" charset="0"/>
                <a:ea typeface="Calibri" pitchFamily="34" charset="-122"/>
                <a:cs typeface="Calibri" pitchFamily="34" charset="-120"/>
              </a:rPr>
              <a:t>✓</a:t>
            </a:r>
            <a:endParaRPr lang="en-US" sz="1400" dirty="0"/>
          </a:p>
        </p:txBody>
      </p:sp>
      <p:sp>
        <p:nvSpPr>
          <p:cNvPr id="13" name="Text 11"/>
          <p:cNvSpPr/>
          <p:nvPr/>
        </p:nvSpPr>
        <p:spPr>
          <a:xfrm>
            <a:off x="1325880" y="3867912"/>
            <a:ext cx="4343400" cy="502920"/>
          </a:xfrm>
          <a:prstGeom prst="rect">
            <a:avLst/>
          </a:prstGeom>
          <a:noFill/>
          <a:ln/>
        </p:spPr>
        <p:txBody>
          <a:bodyPr wrap="square" lIns="0" tIns="0" rIns="0" bIns="0" rtlCol="0" anchor="ctr"/>
          <a:lstStyle/>
          <a:p>
            <a:pPr indent="0" marL="0">
              <a:lnSpc>
                <a:spcPts val="1500"/>
              </a:lnSpc>
              <a:buNone/>
            </a:pPr>
            <a:r>
              <a:rPr lang="en-US" sz="1300" dirty="0">
                <a:solidFill>
                  <a:srgbClr val="163341"/>
                </a:solidFill>
                <a:latin typeface="Calibri" pitchFamily="34" charset="0"/>
                <a:ea typeface="Calibri" pitchFamily="34" charset="-122"/>
                <a:cs typeface="Calibri" pitchFamily="34" charset="-120"/>
              </a:rPr>
              <a:t>Checkpoints + gap recovery</a:t>
            </a:r>
            <a:endParaRPr lang="en-US" sz="1300" dirty="0"/>
          </a:p>
        </p:txBody>
      </p:sp>
      <p:sp>
        <p:nvSpPr>
          <p:cNvPr id="14" name="Text 12"/>
          <p:cNvSpPr/>
          <p:nvPr/>
        </p:nvSpPr>
        <p:spPr>
          <a:xfrm>
            <a:off x="932688" y="4434840"/>
            <a:ext cx="365760" cy="365760"/>
          </a:xfrm>
          <a:prstGeom prst="rect">
            <a:avLst/>
          </a:prstGeom>
          <a:noFill/>
          <a:ln/>
        </p:spPr>
        <p:txBody>
          <a:bodyPr wrap="square" lIns="0" tIns="0" rIns="0" bIns="0" rtlCol="0" anchor="ctr"/>
          <a:lstStyle/>
          <a:p>
            <a:pPr indent="0" marL="0">
              <a:buNone/>
            </a:pPr>
            <a:r>
              <a:rPr lang="en-US" sz="1400" b="1" dirty="0">
                <a:solidFill>
                  <a:srgbClr val="2F9E6B"/>
                </a:solidFill>
                <a:latin typeface="Calibri" pitchFamily="34" charset="0"/>
                <a:ea typeface="Calibri" pitchFamily="34" charset="-122"/>
                <a:cs typeface="Calibri" pitchFamily="34" charset="-120"/>
              </a:rPr>
              <a:t>✓</a:t>
            </a:r>
            <a:endParaRPr lang="en-US" sz="1400" dirty="0"/>
          </a:p>
        </p:txBody>
      </p:sp>
      <p:sp>
        <p:nvSpPr>
          <p:cNvPr id="15" name="Text 13"/>
          <p:cNvSpPr/>
          <p:nvPr/>
        </p:nvSpPr>
        <p:spPr>
          <a:xfrm>
            <a:off x="1325880" y="4416552"/>
            <a:ext cx="4343400" cy="502920"/>
          </a:xfrm>
          <a:prstGeom prst="rect">
            <a:avLst/>
          </a:prstGeom>
          <a:noFill/>
          <a:ln/>
        </p:spPr>
        <p:txBody>
          <a:bodyPr wrap="square" lIns="0" tIns="0" rIns="0" bIns="0" rtlCol="0" anchor="ctr"/>
          <a:lstStyle/>
          <a:p>
            <a:pPr indent="0" marL="0">
              <a:lnSpc>
                <a:spcPts val="1500"/>
              </a:lnSpc>
              <a:buNone/>
            </a:pPr>
            <a:r>
              <a:rPr lang="en-US" sz="1300" dirty="0">
                <a:solidFill>
                  <a:srgbClr val="163341"/>
                </a:solidFill>
                <a:latin typeface="Calibri" pitchFamily="34" charset="0"/>
                <a:ea typeface="Calibri" pitchFamily="34" charset="-122"/>
                <a:cs typeface="Calibri" pitchFamily="34" charset="-120"/>
              </a:rPr>
              <a:t>Downsampling rollups (TS.CREATERULE)</a:t>
            </a:r>
            <a:endParaRPr lang="en-US" sz="1300" dirty="0"/>
          </a:p>
        </p:txBody>
      </p:sp>
      <p:sp>
        <p:nvSpPr>
          <p:cNvPr id="16" name="Text 14"/>
          <p:cNvSpPr/>
          <p:nvPr/>
        </p:nvSpPr>
        <p:spPr>
          <a:xfrm>
            <a:off x="932688" y="4983480"/>
            <a:ext cx="365760" cy="365760"/>
          </a:xfrm>
          <a:prstGeom prst="rect">
            <a:avLst/>
          </a:prstGeom>
          <a:noFill/>
          <a:ln/>
        </p:spPr>
        <p:txBody>
          <a:bodyPr wrap="square" lIns="0" tIns="0" rIns="0" bIns="0" rtlCol="0" anchor="ctr"/>
          <a:lstStyle/>
          <a:p>
            <a:pPr indent="0" marL="0">
              <a:buNone/>
            </a:pPr>
            <a:r>
              <a:rPr lang="en-US" sz="1400" b="1" dirty="0">
                <a:solidFill>
                  <a:srgbClr val="2F9E6B"/>
                </a:solidFill>
                <a:latin typeface="Calibri" pitchFamily="34" charset="0"/>
                <a:ea typeface="Calibri" pitchFamily="34" charset="-122"/>
                <a:cs typeface="Calibri" pitchFamily="34" charset="-120"/>
              </a:rPr>
              <a:t>✓</a:t>
            </a:r>
            <a:endParaRPr lang="en-US" sz="1400" dirty="0"/>
          </a:p>
        </p:txBody>
      </p:sp>
      <p:sp>
        <p:nvSpPr>
          <p:cNvPr id="17" name="Text 15"/>
          <p:cNvSpPr/>
          <p:nvPr/>
        </p:nvSpPr>
        <p:spPr>
          <a:xfrm>
            <a:off x="1325880" y="4965192"/>
            <a:ext cx="4343400" cy="502920"/>
          </a:xfrm>
          <a:prstGeom prst="rect">
            <a:avLst/>
          </a:prstGeom>
          <a:noFill/>
          <a:ln/>
        </p:spPr>
        <p:txBody>
          <a:bodyPr wrap="square" lIns="0" tIns="0" rIns="0" bIns="0" rtlCol="0" anchor="ctr"/>
          <a:lstStyle/>
          <a:p>
            <a:pPr indent="0" marL="0">
              <a:lnSpc>
                <a:spcPts val="1500"/>
              </a:lnSpc>
              <a:buNone/>
            </a:pPr>
            <a:r>
              <a:rPr lang="en-US" sz="1300" dirty="0">
                <a:solidFill>
                  <a:srgbClr val="163341"/>
                </a:solidFill>
                <a:latin typeface="Calibri" pitchFamily="34" charset="0"/>
                <a:ea typeface="Calibri" pitchFamily="34" charset="-122"/>
                <a:cs typeface="Calibri" pitchFamily="34" charset="-120"/>
              </a:rPr>
              <a:t>Snapshot, history &amp; pub/sub outputs</a:t>
            </a:r>
            <a:endParaRPr lang="en-US" sz="1300" dirty="0"/>
          </a:p>
        </p:txBody>
      </p:sp>
      <p:sp>
        <p:nvSpPr>
          <p:cNvPr id="18" name="Text 16"/>
          <p:cNvSpPr/>
          <p:nvPr/>
        </p:nvSpPr>
        <p:spPr>
          <a:xfrm>
            <a:off x="932688" y="5532120"/>
            <a:ext cx="365760" cy="365760"/>
          </a:xfrm>
          <a:prstGeom prst="rect">
            <a:avLst/>
          </a:prstGeom>
          <a:noFill/>
          <a:ln/>
        </p:spPr>
        <p:txBody>
          <a:bodyPr wrap="square" lIns="0" tIns="0" rIns="0" bIns="0" rtlCol="0" anchor="ctr"/>
          <a:lstStyle/>
          <a:p>
            <a:pPr indent="0" marL="0">
              <a:buNone/>
            </a:pPr>
            <a:r>
              <a:rPr lang="en-US" sz="1400" b="1" dirty="0">
                <a:solidFill>
                  <a:srgbClr val="2F9E6B"/>
                </a:solidFill>
                <a:latin typeface="Calibri" pitchFamily="34" charset="0"/>
                <a:ea typeface="Calibri" pitchFamily="34" charset="-122"/>
                <a:cs typeface="Calibri" pitchFamily="34" charset="-120"/>
              </a:rPr>
              <a:t>✓</a:t>
            </a:r>
            <a:endParaRPr lang="en-US" sz="1400" dirty="0"/>
          </a:p>
        </p:txBody>
      </p:sp>
      <p:sp>
        <p:nvSpPr>
          <p:cNvPr id="19" name="Text 17"/>
          <p:cNvSpPr/>
          <p:nvPr/>
        </p:nvSpPr>
        <p:spPr>
          <a:xfrm>
            <a:off x="1325880" y="5513832"/>
            <a:ext cx="4343400" cy="502920"/>
          </a:xfrm>
          <a:prstGeom prst="rect">
            <a:avLst/>
          </a:prstGeom>
          <a:noFill/>
          <a:ln/>
        </p:spPr>
        <p:txBody>
          <a:bodyPr wrap="square" lIns="0" tIns="0" rIns="0" bIns="0" rtlCol="0" anchor="ctr"/>
          <a:lstStyle/>
          <a:p>
            <a:pPr indent="0" marL="0">
              <a:lnSpc>
                <a:spcPts val="1500"/>
              </a:lnSpc>
              <a:buNone/>
            </a:pPr>
            <a:r>
              <a:rPr lang="en-US" sz="1300" dirty="0">
                <a:solidFill>
                  <a:srgbClr val="163341"/>
                </a:solidFill>
                <a:latin typeface="Calibri" pitchFamily="34" charset="0"/>
                <a:ea typeface="Calibri" pitchFamily="34" charset="-122"/>
                <a:cs typeface="Calibri" pitchFamily="34" charset="-120"/>
              </a:rPr>
              <a:t>/healthz + Prometheus /metrics</a:t>
            </a:r>
            <a:endParaRPr lang="en-US" sz="1300" dirty="0"/>
          </a:p>
        </p:txBody>
      </p:sp>
      <p:sp>
        <p:nvSpPr>
          <p:cNvPr id="20" name="Shape 18"/>
          <p:cNvSpPr/>
          <p:nvPr/>
        </p:nvSpPr>
        <p:spPr>
          <a:xfrm>
            <a:off x="6272784" y="1828800"/>
            <a:ext cx="5276088" cy="4206240"/>
          </a:xfrm>
          <a:prstGeom prst="roundRect">
            <a:avLst>
              <a:gd name="adj" fmla="val 1739"/>
            </a:avLst>
          </a:prstGeom>
          <a:solidFill>
            <a:srgbClr val="FFFFFF"/>
          </a:solidFill>
          <a:ln w="12700">
            <a:solidFill>
              <a:srgbClr val="D8E0E3"/>
            </a:solidFill>
            <a:prstDash val="solid"/>
          </a:ln>
          <a:effectLst>
            <a:outerShdw sx="100000" sy="100000" kx="0" ky="0" algn="bl" rotWithShape="0" blurRad="76200" dist="38100" dir="5400000">
              <a:srgbClr val="9AA7AD">
                <a:alpha val="35000"/>
              </a:srgbClr>
            </a:outerShdw>
          </a:effectLst>
        </p:spPr>
      </p:sp>
      <p:sp>
        <p:nvSpPr>
          <p:cNvPr id="21" name="Shape 19"/>
          <p:cNvSpPr/>
          <p:nvPr/>
        </p:nvSpPr>
        <p:spPr>
          <a:xfrm>
            <a:off x="6272784" y="1828800"/>
            <a:ext cx="5276088" cy="777240"/>
          </a:xfrm>
          <a:prstGeom prst="roundRect">
            <a:avLst>
              <a:gd name="adj" fmla="val 9412"/>
            </a:avLst>
          </a:prstGeom>
          <a:solidFill>
            <a:srgbClr val="FF4438"/>
          </a:solidFill>
          <a:ln/>
        </p:spPr>
      </p:sp>
      <p:sp>
        <p:nvSpPr>
          <p:cNvPr id="22" name="Shape 20"/>
          <p:cNvSpPr/>
          <p:nvPr/>
        </p:nvSpPr>
        <p:spPr>
          <a:xfrm>
            <a:off x="6272784" y="2240280"/>
            <a:ext cx="5276088" cy="365760"/>
          </a:xfrm>
          <a:prstGeom prst="rect">
            <a:avLst/>
          </a:prstGeom>
          <a:solidFill>
            <a:srgbClr val="FF4438"/>
          </a:solidFill>
          <a:ln/>
        </p:spPr>
      </p:sp>
      <p:sp>
        <p:nvSpPr>
          <p:cNvPr id="23" name="Text 21"/>
          <p:cNvSpPr/>
          <p:nvPr/>
        </p:nvSpPr>
        <p:spPr>
          <a:xfrm>
            <a:off x="6547104" y="1828800"/>
            <a:ext cx="4754880" cy="7772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Next for production</a:t>
            </a:r>
            <a:endParaRPr lang="en-US" sz="1700" dirty="0"/>
          </a:p>
        </p:txBody>
      </p:sp>
      <p:sp>
        <p:nvSpPr>
          <p:cNvPr id="24" name="Text 22"/>
          <p:cNvSpPr/>
          <p:nvPr/>
        </p:nvSpPr>
        <p:spPr>
          <a:xfrm>
            <a:off x="6565392" y="2788920"/>
            <a:ext cx="365760" cy="365760"/>
          </a:xfrm>
          <a:prstGeom prst="rect">
            <a:avLst/>
          </a:prstGeom>
          <a:noFill/>
          <a:ln/>
        </p:spPr>
        <p:txBody>
          <a:bodyPr wrap="square" lIns="0" tIns="0" rIns="0" bIns="0" rtlCol="0" anchor="ctr"/>
          <a:lstStyle/>
          <a:p>
            <a:pPr indent="0" marL="0">
              <a:buNone/>
            </a:pPr>
            <a:r>
              <a:rPr lang="en-US" sz="1400" b="1" dirty="0">
                <a:solidFill>
                  <a:srgbClr val="FF4438"/>
                </a:solidFill>
                <a:latin typeface="Calibri" pitchFamily="34" charset="0"/>
                <a:ea typeface="Calibri" pitchFamily="34" charset="-122"/>
                <a:cs typeface="Calibri" pitchFamily="34" charset="-120"/>
              </a:rPr>
              <a:t>→</a:t>
            </a:r>
            <a:endParaRPr lang="en-US" sz="1400" dirty="0"/>
          </a:p>
        </p:txBody>
      </p:sp>
      <p:sp>
        <p:nvSpPr>
          <p:cNvPr id="25" name="Text 23"/>
          <p:cNvSpPr/>
          <p:nvPr/>
        </p:nvSpPr>
        <p:spPr>
          <a:xfrm>
            <a:off x="6958584" y="2770632"/>
            <a:ext cx="4343400" cy="502920"/>
          </a:xfrm>
          <a:prstGeom prst="rect">
            <a:avLst/>
          </a:prstGeom>
          <a:noFill/>
          <a:ln/>
        </p:spPr>
        <p:txBody>
          <a:bodyPr wrap="square" lIns="0" tIns="0" rIns="0" bIns="0" rtlCol="0" anchor="ctr"/>
          <a:lstStyle/>
          <a:p>
            <a:pPr indent="0" marL="0">
              <a:lnSpc>
                <a:spcPts val="1500"/>
              </a:lnSpc>
              <a:buNone/>
            </a:pPr>
            <a:r>
              <a:rPr lang="en-US" sz="1300" dirty="0">
                <a:solidFill>
                  <a:srgbClr val="163341"/>
                </a:solidFill>
                <a:latin typeface="Calibri" pitchFamily="34" charset="0"/>
                <a:ea typeface="Calibri" pitchFamily="34" charset="-122"/>
                <a:cs typeface="Calibri" pitchFamily="34" charset="-120"/>
              </a:rPr>
              <a:t>Kerberos auth for real PI; TLS/ACL for Redis</a:t>
            </a:r>
            <a:endParaRPr lang="en-US" sz="1300" dirty="0"/>
          </a:p>
        </p:txBody>
      </p:sp>
      <p:sp>
        <p:nvSpPr>
          <p:cNvPr id="26" name="Text 24"/>
          <p:cNvSpPr/>
          <p:nvPr/>
        </p:nvSpPr>
        <p:spPr>
          <a:xfrm>
            <a:off x="6565392" y="3337560"/>
            <a:ext cx="365760" cy="365760"/>
          </a:xfrm>
          <a:prstGeom prst="rect">
            <a:avLst/>
          </a:prstGeom>
          <a:noFill/>
          <a:ln/>
        </p:spPr>
        <p:txBody>
          <a:bodyPr wrap="square" lIns="0" tIns="0" rIns="0" bIns="0" rtlCol="0" anchor="ctr"/>
          <a:lstStyle/>
          <a:p>
            <a:pPr indent="0" marL="0">
              <a:buNone/>
            </a:pPr>
            <a:r>
              <a:rPr lang="en-US" sz="1400" b="1" dirty="0">
                <a:solidFill>
                  <a:srgbClr val="FF4438"/>
                </a:solidFill>
                <a:latin typeface="Calibri" pitchFamily="34" charset="0"/>
                <a:ea typeface="Calibri" pitchFamily="34" charset="-122"/>
                <a:cs typeface="Calibri" pitchFamily="34" charset="-120"/>
              </a:rPr>
              <a:t>→</a:t>
            </a:r>
            <a:endParaRPr lang="en-US" sz="1400" dirty="0"/>
          </a:p>
        </p:txBody>
      </p:sp>
      <p:sp>
        <p:nvSpPr>
          <p:cNvPr id="27" name="Text 25"/>
          <p:cNvSpPr/>
          <p:nvPr/>
        </p:nvSpPr>
        <p:spPr>
          <a:xfrm>
            <a:off x="6958584" y="3319272"/>
            <a:ext cx="4343400" cy="502920"/>
          </a:xfrm>
          <a:prstGeom prst="rect">
            <a:avLst/>
          </a:prstGeom>
          <a:noFill/>
          <a:ln/>
        </p:spPr>
        <p:txBody>
          <a:bodyPr wrap="square" lIns="0" tIns="0" rIns="0" bIns="0" rtlCol="0" anchor="ctr"/>
          <a:lstStyle/>
          <a:p>
            <a:pPr indent="0" marL="0">
              <a:lnSpc>
                <a:spcPts val="1500"/>
              </a:lnSpc>
              <a:buNone/>
            </a:pPr>
            <a:r>
              <a:rPr lang="en-US" sz="1300" dirty="0">
                <a:solidFill>
                  <a:srgbClr val="163341"/>
                </a:solidFill>
                <a:latin typeface="Calibri" pitchFamily="34" charset="0"/>
                <a:ea typeface="Calibri" pitchFamily="34" charset="-122"/>
                <a:cs typeface="Calibri" pitchFamily="34" charset="-120"/>
              </a:rPr>
              <a:t>Shard tags across workers for scale</a:t>
            </a:r>
            <a:endParaRPr lang="en-US" sz="1300" dirty="0"/>
          </a:p>
        </p:txBody>
      </p:sp>
      <p:sp>
        <p:nvSpPr>
          <p:cNvPr id="28" name="Text 26"/>
          <p:cNvSpPr/>
          <p:nvPr/>
        </p:nvSpPr>
        <p:spPr>
          <a:xfrm>
            <a:off x="6565392" y="3886200"/>
            <a:ext cx="365760" cy="365760"/>
          </a:xfrm>
          <a:prstGeom prst="rect">
            <a:avLst/>
          </a:prstGeom>
          <a:noFill/>
          <a:ln/>
        </p:spPr>
        <p:txBody>
          <a:bodyPr wrap="square" lIns="0" tIns="0" rIns="0" bIns="0" rtlCol="0" anchor="ctr"/>
          <a:lstStyle/>
          <a:p>
            <a:pPr indent="0" marL="0">
              <a:buNone/>
            </a:pPr>
            <a:r>
              <a:rPr lang="en-US" sz="1400" b="1" dirty="0">
                <a:solidFill>
                  <a:srgbClr val="FF4438"/>
                </a:solidFill>
                <a:latin typeface="Calibri" pitchFamily="34" charset="0"/>
                <a:ea typeface="Calibri" pitchFamily="34" charset="-122"/>
                <a:cs typeface="Calibri" pitchFamily="34" charset="-120"/>
              </a:rPr>
              <a:t>→</a:t>
            </a:r>
            <a:endParaRPr lang="en-US" sz="1400" dirty="0"/>
          </a:p>
        </p:txBody>
      </p:sp>
      <p:sp>
        <p:nvSpPr>
          <p:cNvPr id="29" name="Text 27"/>
          <p:cNvSpPr/>
          <p:nvPr/>
        </p:nvSpPr>
        <p:spPr>
          <a:xfrm>
            <a:off x="6958584" y="3867912"/>
            <a:ext cx="4343400" cy="502920"/>
          </a:xfrm>
          <a:prstGeom prst="rect">
            <a:avLst/>
          </a:prstGeom>
          <a:noFill/>
          <a:ln/>
        </p:spPr>
        <p:txBody>
          <a:bodyPr wrap="square" lIns="0" tIns="0" rIns="0" bIns="0" rtlCol="0" anchor="ctr"/>
          <a:lstStyle/>
          <a:p>
            <a:pPr indent="0" marL="0">
              <a:lnSpc>
                <a:spcPts val="1500"/>
              </a:lnSpc>
              <a:buNone/>
            </a:pPr>
            <a:r>
              <a:rPr lang="en-US" sz="1300" dirty="0">
                <a:solidFill>
                  <a:srgbClr val="163341"/>
                </a:solidFill>
                <a:latin typeface="Calibri" pitchFamily="34" charset="0"/>
                <a:ea typeface="Calibri" pitchFamily="34" charset="-122"/>
                <a:cs typeface="Calibri" pitchFamily="34" charset="-120"/>
              </a:rPr>
              <a:t>Active-active geo-distribution (edge/DR)</a:t>
            </a:r>
            <a:endParaRPr lang="en-US" sz="1300" dirty="0"/>
          </a:p>
        </p:txBody>
      </p:sp>
      <p:sp>
        <p:nvSpPr>
          <p:cNvPr id="30" name="Text 28"/>
          <p:cNvSpPr/>
          <p:nvPr/>
        </p:nvSpPr>
        <p:spPr>
          <a:xfrm>
            <a:off x="6565392" y="4434840"/>
            <a:ext cx="365760" cy="365760"/>
          </a:xfrm>
          <a:prstGeom prst="rect">
            <a:avLst/>
          </a:prstGeom>
          <a:noFill/>
          <a:ln/>
        </p:spPr>
        <p:txBody>
          <a:bodyPr wrap="square" lIns="0" tIns="0" rIns="0" bIns="0" rtlCol="0" anchor="ctr"/>
          <a:lstStyle/>
          <a:p>
            <a:pPr indent="0" marL="0">
              <a:buNone/>
            </a:pPr>
            <a:r>
              <a:rPr lang="en-US" sz="1400" b="1" dirty="0">
                <a:solidFill>
                  <a:srgbClr val="FF4438"/>
                </a:solidFill>
                <a:latin typeface="Calibri" pitchFamily="34" charset="0"/>
                <a:ea typeface="Calibri" pitchFamily="34" charset="-122"/>
                <a:cs typeface="Calibri" pitchFamily="34" charset="-120"/>
              </a:rPr>
              <a:t>→</a:t>
            </a:r>
            <a:endParaRPr lang="en-US" sz="1400" dirty="0"/>
          </a:p>
        </p:txBody>
      </p:sp>
      <p:sp>
        <p:nvSpPr>
          <p:cNvPr id="31" name="Text 29"/>
          <p:cNvSpPr/>
          <p:nvPr/>
        </p:nvSpPr>
        <p:spPr>
          <a:xfrm>
            <a:off x="6958584" y="4416552"/>
            <a:ext cx="4343400" cy="502920"/>
          </a:xfrm>
          <a:prstGeom prst="rect">
            <a:avLst/>
          </a:prstGeom>
          <a:noFill/>
          <a:ln/>
        </p:spPr>
        <p:txBody>
          <a:bodyPr wrap="square" lIns="0" tIns="0" rIns="0" bIns="0" rtlCol="0" anchor="ctr"/>
          <a:lstStyle/>
          <a:p>
            <a:pPr indent="0" marL="0">
              <a:lnSpc>
                <a:spcPts val="1500"/>
              </a:lnSpc>
              <a:buNone/>
            </a:pPr>
            <a:r>
              <a:rPr lang="en-US" sz="1300" dirty="0">
                <a:solidFill>
                  <a:srgbClr val="163341"/>
                </a:solidFill>
                <a:latin typeface="Calibri" pitchFamily="34" charset="0"/>
                <a:ea typeface="Calibri" pitchFamily="34" charset="-122"/>
                <a:cs typeface="Calibri" pitchFamily="34" charset="-120"/>
              </a:rPr>
              <a:t>Prometheus + Alertmanager alerting</a:t>
            </a:r>
            <a:endParaRPr lang="en-US" sz="1300" dirty="0"/>
          </a:p>
        </p:txBody>
      </p:sp>
      <p:sp>
        <p:nvSpPr>
          <p:cNvPr id="32" name="Text 30"/>
          <p:cNvSpPr/>
          <p:nvPr/>
        </p:nvSpPr>
        <p:spPr>
          <a:xfrm>
            <a:off x="6565392" y="4983480"/>
            <a:ext cx="365760" cy="365760"/>
          </a:xfrm>
          <a:prstGeom prst="rect">
            <a:avLst/>
          </a:prstGeom>
          <a:noFill/>
          <a:ln/>
        </p:spPr>
        <p:txBody>
          <a:bodyPr wrap="square" lIns="0" tIns="0" rIns="0" bIns="0" rtlCol="0" anchor="ctr"/>
          <a:lstStyle/>
          <a:p>
            <a:pPr indent="0" marL="0">
              <a:buNone/>
            </a:pPr>
            <a:r>
              <a:rPr lang="en-US" sz="1400" b="1" dirty="0">
                <a:solidFill>
                  <a:srgbClr val="FF4438"/>
                </a:solidFill>
                <a:latin typeface="Calibri" pitchFamily="34" charset="0"/>
                <a:ea typeface="Calibri" pitchFamily="34" charset="-122"/>
                <a:cs typeface="Calibri" pitchFamily="34" charset="-120"/>
              </a:rPr>
              <a:t>→</a:t>
            </a:r>
            <a:endParaRPr lang="en-US" sz="1400" dirty="0"/>
          </a:p>
        </p:txBody>
      </p:sp>
      <p:sp>
        <p:nvSpPr>
          <p:cNvPr id="33" name="Text 31"/>
          <p:cNvSpPr/>
          <p:nvPr/>
        </p:nvSpPr>
        <p:spPr>
          <a:xfrm>
            <a:off x="6958584" y="4965192"/>
            <a:ext cx="4343400" cy="502920"/>
          </a:xfrm>
          <a:prstGeom prst="rect">
            <a:avLst/>
          </a:prstGeom>
          <a:noFill/>
          <a:ln/>
        </p:spPr>
        <p:txBody>
          <a:bodyPr wrap="square" lIns="0" tIns="0" rIns="0" bIns="0" rtlCol="0" anchor="ctr"/>
          <a:lstStyle/>
          <a:p>
            <a:pPr indent="0" marL="0">
              <a:lnSpc>
                <a:spcPts val="1500"/>
              </a:lnSpc>
              <a:buNone/>
            </a:pPr>
            <a:r>
              <a:rPr lang="en-US" sz="1300" dirty="0">
                <a:solidFill>
                  <a:srgbClr val="163341"/>
                </a:solidFill>
                <a:latin typeface="Calibri" pitchFamily="34" charset="0"/>
                <a:ea typeface="Calibri" pitchFamily="34" charset="-122"/>
                <a:cs typeface="Calibri" pitchFamily="34" charset="-120"/>
              </a:rPr>
              <a:t>CI/CD + containerized deployment</a:t>
            </a:r>
            <a:endParaRPr lang="en-US" sz="1300" dirty="0"/>
          </a:p>
        </p:txBody>
      </p:sp>
      <p:sp>
        <p:nvSpPr>
          <p:cNvPr id="34" name="Text 32"/>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5C6B73"/>
                </a:solidFill>
                <a:latin typeface="Calibri" pitchFamily="34" charset="0"/>
                <a:ea typeface="Calibri" pitchFamily="34" charset="-122"/>
                <a:cs typeface="Calibri" pitchFamily="34" charset="-120"/>
              </a:rPr>
              <a:t>github.com/amitmknit/aveva-pi-redis-integration</a:t>
            </a:r>
            <a:endParaRPr lang="en-US" sz="900" dirty="0"/>
          </a:p>
        </p:txBody>
      </p:sp>
      <p:sp>
        <p:nvSpPr>
          <p:cNvPr id="35" name="Text 33"/>
          <p:cNvSpPr/>
          <p:nvPr/>
        </p:nvSpPr>
        <p:spPr>
          <a:xfrm>
            <a:off x="8028432" y="6473952"/>
            <a:ext cx="3657600" cy="274320"/>
          </a:xfrm>
          <a:prstGeom prst="rect">
            <a:avLst/>
          </a:prstGeom>
          <a:noFill/>
          <a:ln/>
        </p:spPr>
        <p:txBody>
          <a:bodyPr wrap="square" lIns="0" tIns="0" rIns="0" bIns="0" rtlCol="0" anchor="ctr"/>
          <a:lstStyle/>
          <a:p>
            <a:pPr algn="r" indent="0" marL="0">
              <a:buNone/>
            </a:pPr>
            <a:r>
              <a:rPr lang="en-US" sz="900" dirty="0">
                <a:solidFill>
                  <a:srgbClr val="5C6B73"/>
                </a:solidFill>
                <a:latin typeface="Calibri" pitchFamily="34" charset="0"/>
                <a:ea typeface="Calibri" pitchFamily="34" charset="-122"/>
                <a:cs typeface="Calibri" pitchFamily="34" charset="-120"/>
              </a:rPr>
              <a:t>Redis  ·  Proof of Concept</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91A23"/>
        </a:solidFill>
      </p:bgPr>
    </p:bg>
    <p:spTree>
      <p:nvGrpSpPr>
        <p:cNvPr id="1" name=""/>
        <p:cNvGrpSpPr/>
        <p:nvPr/>
      </p:nvGrpSpPr>
      <p:grpSpPr>
        <a:xfrm>
          <a:off x="0" y="0"/>
          <a:ext cx="0" cy="0"/>
          <a:chOff x="0" y="0"/>
          <a:chExt cx="0" cy="0"/>
        </a:xfrm>
      </p:grpSpPr>
      <p:sp>
        <p:nvSpPr>
          <p:cNvPr id="2" name="Shape 0"/>
          <p:cNvSpPr/>
          <p:nvPr/>
        </p:nvSpPr>
        <p:spPr>
          <a:xfrm>
            <a:off x="9052560" y="4206240"/>
            <a:ext cx="4572000" cy="3840480"/>
          </a:xfrm>
          <a:prstGeom prst="roundRect">
            <a:avLst>
              <a:gd name="adj" fmla="val 14286"/>
            </a:avLst>
          </a:prstGeom>
          <a:solidFill>
            <a:srgbClr val="FF4438">
              <a:alpha val="16000"/>
            </a:srgbClr>
          </a:solidFill>
          <a:ln/>
        </p:spPr>
      </p:sp>
      <p:sp>
        <p:nvSpPr>
          <p:cNvPr id="3" name="Shape 1"/>
          <p:cNvSpPr/>
          <p:nvPr/>
        </p:nvSpPr>
        <p:spPr>
          <a:xfrm>
            <a:off x="640080" y="685800"/>
            <a:ext cx="595274" cy="595274"/>
          </a:xfrm>
          <a:prstGeom prst="roundRect">
            <a:avLst>
              <a:gd name="adj" fmla="val 16129"/>
            </a:avLst>
          </a:prstGeom>
          <a:solidFill>
            <a:srgbClr val="FF4438"/>
          </a:solidFill>
          <a:ln/>
          <a:effectLst>
            <a:outerShdw sx="100000" sy="100000" kx="0" ky="0" algn="bl" rotWithShape="0" blurRad="76200" dist="38100" dir="5400000">
              <a:srgbClr val="9AA7AD">
                <a:alpha val="35000"/>
              </a:srgbClr>
            </a:outerShdw>
          </a:effectLst>
        </p:spPr>
      </p:sp>
      <p:sp>
        <p:nvSpPr>
          <p:cNvPr id="4" name="Text 2"/>
          <p:cNvSpPr/>
          <p:nvPr/>
        </p:nvSpPr>
        <p:spPr>
          <a:xfrm>
            <a:off x="640080" y="685800"/>
            <a:ext cx="595274" cy="595274"/>
          </a:xfrm>
          <a:prstGeom prst="rect">
            <a:avLst/>
          </a:prstGeom>
          <a:noFill/>
          <a:ln/>
        </p:spPr>
        <p:txBody>
          <a:bodyPr wrap="square" lIns="0" tIns="0" rIns="0" bIns="0" rtlCol="0" anchor="ctr"/>
          <a:lstStyle/>
          <a:p>
            <a:pPr algn="ctr" indent="0" marL="0">
              <a:buNone/>
            </a:pPr>
            <a:r>
              <a:rPr lang="en-US" sz="3150" b="1" dirty="0">
                <a:solidFill>
                  <a:srgbClr val="FFFFFF"/>
                </a:solidFill>
                <a:latin typeface="Cambria" pitchFamily="34" charset="0"/>
                <a:ea typeface="Cambria" pitchFamily="34" charset="-122"/>
                <a:cs typeface="Cambria" pitchFamily="34" charset="-120"/>
              </a:rPr>
              <a:t>R</a:t>
            </a:r>
            <a:endParaRPr lang="en-US" sz="3150" dirty="0"/>
          </a:p>
        </p:txBody>
      </p:sp>
      <p:sp>
        <p:nvSpPr>
          <p:cNvPr id="5" name="Text 3"/>
          <p:cNvSpPr/>
          <p:nvPr/>
        </p:nvSpPr>
        <p:spPr>
          <a:xfrm>
            <a:off x="640080" y="2103120"/>
            <a:ext cx="10058400" cy="1005840"/>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Thank you</a:t>
            </a:r>
            <a:endParaRPr lang="en-US" sz="5000" dirty="0"/>
          </a:p>
        </p:txBody>
      </p:sp>
      <p:sp>
        <p:nvSpPr>
          <p:cNvPr id="6" name="Text 4"/>
          <p:cNvSpPr/>
          <p:nvPr/>
        </p:nvSpPr>
        <p:spPr>
          <a:xfrm>
            <a:off x="658368" y="3200400"/>
            <a:ext cx="10058400" cy="548640"/>
          </a:xfrm>
          <a:prstGeom prst="rect">
            <a:avLst/>
          </a:prstGeom>
          <a:noFill/>
          <a:ln/>
        </p:spPr>
        <p:txBody>
          <a:bodyPr wrap="square" lIns="0" tIns="0" rIns="0" bIns="0" rtlCol="0" anchor="ctr"/>
          <a:lstStyle/>
          <a:p>
            <a:pPr indent="0" marL="0">
              <a:buNone/>
            </a:pPr>
            <a:r>
              <a:rPr lang="en-US" sz="1800" dirty="0">
                <a:solidFill>
                  <a:srgbClr val="C6D2D7"/>
                </a:solidFill>
                <a:latin typeface="Calibri" pitchFamily="34" charset="0"/>
                <a:ea typeface="Calibri" pitchFamily="34" charset="-122"/>
                <a:cs typeface="Calibri" pitchFamily="34" charset="-120"/>
              </a:rPr>
              <a:t>Let's connect PI to Redis on your data.</a:t>
            </a:r>
            <a:endParaRPr lang="en-US" sz="1800" dirty="0"/>
          </a:p>
        </p:txBody>
      </p:sp>
      <p:sp>
        <p:nvSpPr>
          <p:cNvPr id="7" name="Shape 5"/>
          <p:cNvSpPr/>
          <p:nvPr/>
        </p:nvSpPr>
        <p:spPr>
          <a:xfrm>
            <a:off x="658368" y="4114800"/>
            <a:ext cx="6949440" cy="685800"/>
          </a:xfrm>
          <a:prstGeom prst="roundRect">
            <a:avLst>
              <a:gd name="adj" fmla="val 13333"/>
            </a:avLst>
          </a:prstGeom>
          <a:solidFill>
            <a:srgbClr val="163341"/>
          </a:solidFill>
          <a:ln/>
        </p:spPr>
      </p:sp>
      <p:sp>
        <p:nvSpPr>
          <p:cNvPr id="8" name="Text 6"/>
          <p:cNvSpPr/>
          <p:nvPr/>
        </p:nvSpPr>
        <p:spPr>
          <a:xfrm>
            <a:off x="914400" y="4114800"/>
            <a:ext cx="6583680" cy="685800"/>
          </a:xfrm>
          <a:prstGeom prst="rect">
            <a:avLst/>
          </a:prstGeom>
          <a:noFill/>
          <a:ln/>
        </p:spPr>
        <p:txBody>
          <a:bodyPr wrap="square" lIns="0" tIns="0" rIns="0" bIns="0" rtlCol="0" anchor="ctr"/>
          <a:lstStyle/>
          <a:p>
            <a:pPr indent="0" marL="0">
              <a:buNone/>
            </a:pPr>
            <a:r>
              <a:rPr lang="en-US" sz="1400" b="1" dirty="0">
                <a:solidFill>
                  <a:srgbClr val="7E9099"/>
                </a:solidFill>
                <a:latin typeface="Calibri" pitchFamily="34" charset="0"/>
                <a:ea typeface="Calibri" pitchFamily="34" charset="-122"/>
                <a:cs typeface="Calibri" pitchFamily="34" charset="-120"/>
              </a:rPr>
              <a:t>Repo   </a:t>
            </a:r>
            <a:pPr indent="0" marL="0">
              <a:buNone/>
            </a:pPr>
            <a:r>
              <a:rPr lang="en-US" sz="1400" dirty="0">
                <a:solidFill>
                  <a:srgbClr val="FFFFFF"/>
                </a:solidFill>
                <a:latin typeface="Calibri" pitchFamily="34" charset="0"/>
                <a:ea typeface="Calibri" pitchFamily="34" charset="-122"/>
                <a:cs typeface="Calibri" pitchFamily="34" charset="-120"/>
              </a:rPr>
              <a:t>github.com/amitmknit/aveva-pi-redis-integration</a:t>
            </a:r>
            <a:endParaRPr lang="en-US" sz="1400" dirty="0"/>
          </a:p>
        </p:txBody>
      </p:sp>
      <p:sp>
        <p:nvSpPr>
          <p:cNvPr id="9" name="Text 7"/>
          <p:cNvSpPr/>
          <p:nvPr/>
        </p:nvSpPr>
        <p:spPr>
          <a:xfrm>
            <a:off x="658368" y="5074920"/>
            <a:ext cx="100584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Amit Malik</a:t>
            </a:r>
            <a:pPr indent="0" marL="0">
              <a:buNone/>
            </a:pPr>
            <a:r>
              <a:rPr lang="en-US" sz="1400" dirty="0">
                <a:solidFill>
                  <a:srgbClr val="9DB0B8"/>
                </a:solidFill>
                <a:latin typeface="Calibri" pitchFamily="34" charset="0"/>
                <a:ea typeface="Calibri" pitchFamily="34" charset="-122"/>
                <a:cs typeface="Calibri" pitchFamily="34" charset="-120"/>
              </a:rPr>
              <a:t>   ·   amit.malik@redis.com</a:t>
            </a:r>
            <a:endParaRPr lang="en-US" sz="1400" dirty="0"/>
          </a:p>
        </p:txBody>
      </p:sp>
      <p:sp>
        <p:nvSpPr>
          <p:cNvPr id="10" name="Text 8"/>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7E9099"/>
                </a:solidFill>
                <a:latin typeface="Calibri" pitchFamily="34" charset="0"/>
                <a:ea typeface="Calibri" pitchFamily="34" charset="-122"/>
                <a:cs typeface="Calibri" pitchFamily="34" charset="-120"/>
              </a:rPr>
              <a:t>github.com/amitmknit/aveva-pi-redis-integration</a:t>
            </a:r>
            <a:endParaRPr lang="en-US" sz="900" dirty="0"/>
          </a:p>
        </p:txBody>
      </p:sp>
      <p:sp>
        <p:nvSpPr>
          <p:cNvPr id="11" name="Text 9"/>
          <p:cNvSpPr/>
          <p:nvPr/>
        </p:nvSpPr>
        <p:spPr>
          <a:xfrm>
            <a:off x="8028432" y="6473952"/>
            <a:ext cx="3657600" cy="274320"/>
          </a:xfrm>
          <a:prstGeom prst="rect">
            <a:avLst/>
          </a:prstGeom>
          <a:noFill/>
          <a:ln/>
        </p:spPr>
        <p:txBody>
          <a:bodyPr wrap="square" lIns="0" tIns="0" rIns="0" bIns="0" rtlCol="0" anchor="ctr"/>
          <a:lstStyle/>
          <a:p>
            <a:pPr algn="r" indent="0" marL="0">
              <a:buNone/>
            </a:pPr>
            <a:r>
              <a:rPr lang="en-US" sz="900" dirty="0">
                <a:solidFill>
                  <a:srgbClr val="7E9099"/>
                </a:solidFill>
                <a:latin typeface="Calibri" pitchFamily="34" charset="0"/>
                <a:ea typeface="Calibri" pitchFamily="34" charset="-122"/>
                <a:cs typeface="Calibri" pitchFamily="34" charset="-120"/>
              </a:rPr>
              <a:t>Redis  ·  Proof of Concept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2026-07-26T06:41:54Z</dcterms:created>
  <dcterms:modified xsi:type="dcterms:W3CDTF">2026-07-26T06:41:54Z</dcterms:modified>
</cp:coreProperties>
</file>